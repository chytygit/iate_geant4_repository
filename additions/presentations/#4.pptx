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57" r:id="rId6"/>
    <p:sldId id="259" r:id="rId7"/>
    <p:sldId id="258" r:id="rId8"/>
    <p:sldId id="260" r:id="rId9"/>
    <p:sldId id="261" r:id="rId10"/>
    <p:sldId id="267" r:id="rId11"/>
    <p:sldId id="266" r:id="rId12"/>
    <p:sldId id="268" r:id="rId13"/>
    <p:sldId id="262" r:id="rId14"/>
    <p:sldId id="263" r:id="rId15"/>
    <p:sldId id="274" r:id="rId16"/>
    <p:sldId id="264" r:id="rId17"/>
    <p:sldId id="265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358A7-093C-480B-993A-0861A57B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F2E600-78AB-1BE5-C516-3EEBA3B2B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4A3F8-6931-DE53-56E3-30659A7D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D6941-EFF6-751D-BA43-35C434ED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ED959-0472-853C-7C8A-B2F899F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66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C5B86-BC51-87EC-1017-6FAA28D7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5B3154-2E0D-4A6D-CC04-38D59C644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B9D75D-C45A-A416-D6DA-5AA82E23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53CAFA-6EC1-833F-B3F0-51EB9DA9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CE87D6-9B4D-334B-CEB2-21267355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19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82749-111C-B9AB-EAB0-62F7F6A2F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B8EC51-D581-066C-DBB3-7CE890076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48E219-84ED-6C81-F425-5EB48560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07F86C-DBD3-DC14-DBBF-A6A727B2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E11810-5D57-458E-E32E-2DA290A3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05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FD26C-F9D6-EA9F-0B32-356EA6AD2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8C9F3-CF80-8344-7EBE-F5CE46EEC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0C0B00-9EFB-7CED-756B-CCF166540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0150F-0638-DC72-9A10-8B9A83D8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FB143-EED7-D0FD-A977-180505FE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AC4140-9870-CCF9-A596-21FC08F6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98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256C9-389D-6478-8395-6E5C16DD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A87100-C7F9-C521-7975-A1A4DF6B4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50C977-6205-60C2-AF70-4886CAFB0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2AB2DA0-E0FB-B91C-98A9-78E6E0B29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9B28282-3485-709F-0108-60CD8F528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CE1B30-12F0-2C18-5215-64ABC5AB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E80A5-E2F0-E872-AF88-6BFFFE38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390507-AFE4-A7F8-F1D7-F61093E7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05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D513-6E4E-6566-EF2B-875F45CF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FB8A4F-CD2A-BFAD-A98C-BD106D71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62FF52-4AE7-5468-0CF5-5963E113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AFC37F-CA7A-6BBF-EF6E-A8B856D7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69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8FF41D-2F9E-870D-3845-0B145228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CD43DB-C970-1A11-EF95-F19A3701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770E49-931A-B26B-1782-DFCF1982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7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ED7EB-BAFE-8E99-CF1E-64831E62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2E745A-18B1-2E81-2F9B-B2C1BC191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D79604-9EC2-F12D-33BC-C76815173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556F33-89E0-D90C-0C18-65907096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92A9CC-CBBA-908B-2002-34FFC453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2AB383-2936-9B9A-E7D8-26E0C45C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63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84EF7-F0DA-FC70-9FE0-9FC93F1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9C911E-858F-FD34-687D-E359585D6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9726AD-1849-2F36-84EF-3E750715F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2AACC9-FE4E-1128-1983-CCEF4E40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8A3B7F-8244-3B79-B7D3-615B344B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2E392A-C419-7BCD-2A2A-025676EC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6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4DDC3-259D-8D02-5EA8-A33A0E86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E8ED25-10AD-416E-E61E-B34B943A0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8D1706-A9CD-3019-FFCB-2287A848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EEBE0A-6234-6640-10F7-682BB74F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58B7C0-8DE0-715D-627D-626F135F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4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C23AAC-3827-9A0D-ED85-F8C744F7F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90E39D-3373-581F-8671-CCD1D08F1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BD59C2-5B40-7234-A639-6DC867F2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194A94-4C21-6367-4F96-D6EAB9DE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D2DB2D-9EAB-4AA4-1E46-B50340A8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3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E8093-FB8B-C703-E6F3-C97BAD6E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E7BEA0-FA8E-758B-33F9-FAA82B619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AFE97-FDE8-E245-1776-4CE3F03D3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5E500-4597-4678-93A6-CB8769BDF14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A40984-865E-B5E5-8108-C35C90B99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9C86FC-0BE7-2C51-F1CE-DAD5B984C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8FC07-A6FE-4A7D-9454-7EC6B92C6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13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ant4.web.cern.ch/documentation/dev/plg_html/PhysicsListGuide/reference_PL/index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0CC2E-8C7C-C5A1-C106-ADE710EDA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0415"/>
            <a:ext cx="9144000" cy="2387600"/>
          </a:xfrm>
        </p:spPr>
        <p:txBody>
          <a:bodyPr/>
          <a:lstStyle/>
          <a:p>
            <a:r>
              <a:rPr lang="ru-RU"/>
              <a:t>Создание частиц.</a:t>
            </a:r>
          </a:p>
        </p:txBody>
      </p:sp>
    </p:spTree>
    <p:extLst>
      <p:ext uri="{BB962C8B-B14F-4D97-AF65-F5344CB8AC3E}">
        <p14:creationId xmlns:p14="http://schemas.microsoft.com/office/powerpoint/2010/main" val="104026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D4D63-142C-5DB4-1BA2-C0DF11CC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Макросы для написания программ.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C1964-FD90-A492-8397-0B52ED1E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29" y="1433740"/>
            <a:ext cx="11607141" cy="5059135"/>
          </a:xfrm>
        </p:spPr>
        <p:txBody>
          <a:bodyPr/>
          <a:lstStyle/>
          <a:p>
            <a:pPr algn="just"/>
            <a:r>
              <a:rPr lang="ru-RU" dirty="0"/>
              <a:t>Макросы (</a:t>
            </a:r>
            <a:r>
              <a:rPr lang="en-US" dirty="0"/>
              <a:t>.mac </a:t>
            </a:r>
            <a:r>
              <a:rPr lang="ru-RU" dirty="0"/>
              <a:t>файлы) в </a:t>
            </a:r>
            <a:r>
              <a:rPr lang="en-US" dirty="0"/>
              <a:t>Geant4 </a:t>
            </a:r>
            <a:r>
              <a:rPr lang="ru-RU" dirty="0"/>
              <a:t>содержат набор команд для </a:t>
            </a:r>
            <a:r>
              <a:rPr lang="en-US" dirty="0" err="1">
                <a:solidFill>
                  <a:srgbClr val="00B0F0"/>
                </a:solidFill>
              </a:rPr>
              <a:t>UImanger</a:t>
            </a:r>
            <a:r>
              <a:rPr lang="en-US" dirty="0"/>
              <a:t>. </a:t>
            </a:r>
            <a:r>
              <a:rPr lang="ru-RU" dirty="0"/>
              <a:t>При помощи их можно выполнять  одни и те же инструкции, не вводя команды каждый раз вручную.</a:t>
            </a:r>
          </a:p>
          <a:p>
            <a:pPr algn="just"/>
            <a:r>
              <a:rPr lang="ru-RU" dirty="0"/>
              <a:t>Это особенно полезно в следующих задачах</a:t>
            </a:r>
            <a:r>
              <a:rPr lang="en-US" dirty="0"/>
              <a:t>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sz="2800" dirty="0"/>
              <a:t>Макрос</a:t>
            </a:r>
            <a:r>
              <a:rPr lang="ru-RU" sz="2800" dirty="0">
                <a:solidFill>
                  <a:srgbClr val="00B0F0"/>
                </a:solidFill>
              </a:rPr>
              <a:t> </a:t>
            </a:r>
            <a:r>
              <a:rPr lang="en-US" sz="2800" dirty="0">
                <a:solidFill>
                  <a:srgbClr val="00B0F0"/>
                </a:solidFill>
              </a:rPr>
              <a:t>Vis.mac</a:t>
            </a:r>
            <a:r>
              <a:rPr lang="en-US" sz="2800" dirty="0"/>
              <a:t>, </a:t>
            </a:r>
            <a:r>
              <a:rPr lang="ru-RU" sz="2800" dirty="0"/>
              <a:t>отвечающий за создание визуального окошка (указываем нужное расширение, цвет траекторий частиц, авто обновление объёмов).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sz="2800" dirty="0"/>
              <a:t>Файлы, отвечающие за генерацию частиц с необходимым </a:t>
            </a:r>
            <a:r>
              <a:rPr lang="ru-RU" sz="2800" dirty="0">
                <a:solidFill>
                  <a:srgbClr val="00B0F0"/>
                </a:solidFill>
              </a:rPr>
              <a:t>энергетическим</a:t>
            </a:r>
            <a:r>
              <a:rPr lang="ru-RU" sz="2800" dirty="0"/>
              <a:t> и </a:t>
            </a:r>
            <a:r>
              <a:rPr lang="ru-RU" sz="2800" dirty="0">
                <a:solidFill>
                  <a:srgbClr val="00B0F0"/>
                </a:solidFill>
              </a:rPr>
              <a:t>пространственным</a:t>
            </a:r>
            <a:r>
              <a:rPr lang="ru-RU" sz="2800" dirty="0"/>
              <a:t> распределением.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sz="2800" dirty="0"/>
              <a:t>Файлы-циклы, в которых мы делаем сразу много запусков, </a:t>
            </a:r>
            <a:r>
              <a:rPr lang="ru-RU" sz="2800" dirty="0">
                <a:solidFill>
                  <a:srgbClr val="FF0000"/>
                </a:solidFill>
              </a:rPr>
              <a:t>меняя</a:t>
            </a:r>
            <a:r>
              <a:rPr lang="ru-RU" sz="2800" dirty="0"/>
              <a:t> при каждом из них </a:t>
            </a:r>
            <a:r>
              <a:rPr lang="ru-RU" sz="2800" dirty="0">
                <a:solidFill>
                  <a:srgbClr val="FF0000"/>
                </a:solidFill>
              </a:rPr>
              <a:t>необходимый параметр</a:t>
            </a:r>
            <a:r>
              <a:rPr lang="ru-RU" sz="2800" dirty="0"/>
              <a:t> (размещение источника излучения, геометрия и </a:t>
            </a:r>
            <a:r>
              <a:rPr lang="ru-RU" sz="2800" dirty="0" err="1"/>
              <a:t>тд</a:t>
            </a:r>
            <a:r>
              <a:rPr lang="ru-RU" sz="28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72836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EECBD-EDE9-7D56-AA14-23A25B70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DFECC-306C-EC8F-B59A-81ED983B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Макросы для написания программ.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C2ECA0-7D20-571C-31BE-B8824B535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28" y="1791669"/>
            <a:ext cx="5779448" cy="3274662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В соответствие с этим существует стандартизированный и максимально удобный вид </a:t>
            </a:r>
            <a:r>
              <a:rPr lang="en-US" dirty="0">
                <a:solidFill>
                  <a:srgbClr val="00B0F0"/>
                </a:solidFill>
              </a:rPr>
              <a:t>main-</a:t>
            </a:r>
            <a:r>
              <a:rPr lang="ru-RU" dirty="0">
                <a:solidFill>
                  <a:srgbClr val="00B0F0"/>
                </a:solidFill>
              </a:rPr>
              <a:t>файла</a:t>
            </a:r>
            <a:r>
              <a:rPr lang="ru-RU" dirty="0"/>
              <a:t>, который предполагает использование макросов.</a:t>
            </a:r>
            <a:endParaRPr lang="en-US" dirty="0"/>
          </a:p>
          <a:p>
            <a:pPr algn="just"/>
            <a:r>
              <a:rPr lang="ru-RU" dirty="0"/>
              <a:t>В зависимости от наличия </a:t>
            </a:r>
            <a:r>
              <a:rPr lang="en-US" dirty="0"/>
              <a:t>.mac </a:t>
            </a:r>
            <a:r>
              <a:rPr lang="ru-RU" dirty="0"/>
              <a:t>файла используется </a:t>
            </a:r>
            <a:r>
              <a:rPr lang="en-US" dirty="0">
                <a:solidFill>
                  <a:srgbClr val="00B0F0"/>
                </a:solidFill>
              </a:rPr>
              <a:t>interactive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>
                <a:solidFill>
                  <a:srgbClr val="00B0F0"/>
                </a:solidFill>
              </a:rPr>
              <a:t>batch</a:t>
            </a:r>
            <a:r>
              <a:rPr lang="ru-RU" dirty="0"/>
              <a:t> </a:t>
            </a:r>
            <a:r>
              <a:rPr lang="en-US" dirty="0"/>
              <a:t>mode.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62F71A-DB9A-7EB7-BED2-9D3062B1A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126" y="1358209"/>
            <a:ext cx="5779449" cy="530519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5321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2CFC9-89CD-3CC0-7D2D-43897A8D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vis.mac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764754-284B-9B80-5C18-6C86C16CD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7" y="1391455"/>
            <a:ext cx="5076825" cy="52863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97655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5ADEF-55B6-A27B-FE67-CEAB4924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Физический лист.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416279-A35C-56F0-5B41-E2C3FFCF2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61" y="1499622"/>
            <a:ext cx="11155878" cy="4351338"/>
          </a:xfrm>
        </p:spPr>
        <p:txBody>
          <a:bodyPr/>
          <a:lstStyle/>
          <a:p>
            <a:pPr marL="0" indent="444500" algn="just">
              <a:buNone/>
            </a:pPr>
            <a:r>
              <a:rPr lang="ru-RU" dirty="0"/>
              <a:t>Физический лист определяет</a:t>
            </a:r>
            <a:r>
              <a:rPr lang="en-US" dirty="0"/>
              <a:t>, </a:t>
            </a:r>
            <a:r>
              <a:rPr lang="ru-RU" dirty="0"/>
              <a:t>какие взаимодействия будут учитываться в симуляции (радиоактивный распад</a:t>
            </a:r>
            <a:r>
              <a:rPr lang="en-US" dirty="0"/>
              <a:t>, </a:t>
            </a:r>
            <a:r>
              <a:rPr lang="ru-RU" dirty="0"/>
              <a:t>явления неоднородных электромагнитных полей</a:t>
            </a:r>
            <a:r>
              <a:rPr lang="en-US" dirty="0"/>
              <a:t>, </a:t>
            </a:r>
            <a:r>
              <a:rPr lang="ru-RU" dirty="0"/>
              <a:t>реакции внутри тканей человека</a:t>
            </a:r>
            <a:r>
              <a:rPr lang="en-US" dirty="0"/>
              <a:t>, </a:t>
            </a:r>
            <a:r>
              <a:rPr lang="ru-RU" dirty="0"/>
              <a:t>…)</a:t>
            </a:r>
          </a:p>
          <a:p>
            <a:pPr marL="0" indent="444500">
              <a:buNone/>
            </a:pPr>
            <a:r>
              <a:rPr lang="ru-RU" dirty="0"/>
              <a:t>Его можно определить в одном из видов</a:t>
            </a:r>
            <a:r>
              <a:rPr lang="en-US" dirty="0"/>
              <a:t>:</a:t>
            </a:r>
          </a:p>
          <a:p>
            <a:r>
              <a:rPr lang="ru-RU" dirty="0"/>
              <a:t>Референсный (наиболее распространённый)</a:t>
            </a:r>
          </a:p>
          <a:p>
            <a:r>
              <a:rPr lang="ru-RU" dirty="0"/>
              <a:t>Модульный</a:t>
            </a:r>
          </a:p>
          <a:p>
            <a:r>
              <a:rPr lang="ru-RU" dirty="0"/>
              <a:t>Пользовательский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67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A9DA-DE70-BDA4-055C-AE3C39C6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A29BC-8AC0-201E-9FA0-3ACA9DAB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Референсный физический лист.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3A8D04-4AA8-FEAB-55DE-87B362FB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542992"/>
            <a:ext cx="11072551" cy="4351338"/>
          </a:xfrm>
        </p:spPr>
        <p:txBody>
          <a:bodyPr>
            <a:normAutofit/>
          </a:bodyPr>
          <a:lstStyle/>
          <a:p>
            <a:pPr marL="0" indent="266700" algn="just">
              <a:buNone/>
            </a:pPr>
            <a:r>
              <a:rPr lang="ru-RU" sz="2400" dirty="0"/>
              <a:t>В данном случае мы берём </a:t>
            </a:r>
            <a:r>
              <a:rPr lang="ru-RU" sz="2400" i="1" u="sng" dirty="0"/>
              <a:t>уже готовый</a:t>
            </a:r>
            <a:r>
              <a:rPr lang="ru-RU" sz="2400" dirty="0"/>
              <a:t> физический лист</a:t>
            </a:r>
            <a:r>
              <a:rPr lang="en-US" sz="2400" dirty="0"/>
              <a:t>, </a:t>
            </a:r>
            <a:r>
              <a:rPr lang="ru-RU" sz="2400" dirty="0"/>
              <a:t>который </a:t>
            </a:r>
            <a:r>
              <a:rPr lang="ru-RU" sz="2400" b="1" dirty="0">
                <a:solidFill>
                  <a:srgbClr val="FF0000"/>
                </a:solidFill>
              </a:rPr>
              <a:t>предназначен для типового физического процесса</a:t>
            </a:r>
            <a:r>
              <a:rPr lang="ru-RU" sz="2400" dirty="0"/>
              <a:t>. Это отражается в названии или соответствующей документации.</a:t>
            </a:r>
            <a:r>
              <a:rPr lang="en-US" sz="2400" dirty="0"/>
              <a:t> </a:t>
            </a:r>
            <a:r>
              <a:rPr lang="ru-RU" sz="2400" dirty="0"/>
              <a:t>Также его можно дополнить другими модулями</a:t>
            </a:r>
            <a:r>
              <a:rPr lang="en-US" sz="2400" dirty="0"/>
              <a:t> </a:t>
            </a:r>
            <a:r>
              <a:rPr lang="ru-RU" sz="2400" dirty="0"/>
              <a:t>или заменить одни модули другими</a:t>
            </a:r>
            <a:r>
              <a:rPr lang="en-US" sz="2400" dirty="0"/>
              <a:t> (</a:t>
            </a:r>
            <a:r>
              <a:rPr lang="ru-RU" sz="2400" dirty="0"/>
              <a:t>допустим</a:t>
            </a:r>
            <a:r>
              <a:rPr lang="en-US" sz="2400" dirty="0"/>
              <a:t>, </a:t>
            </a:r>
            <a:r>
              <a:rPr lang="ru-RU" sz="2400" dirty="0"/>
              <a:t>в </a:t>
            </a:r>
            <a:r>
              <a:rPr lang="en-US" sz="2400" dirty="0"/>
              <a:t>QBBC </a:t>
            </a:r>
            <a:r>
              <a:rPr lang="ru-RU" sz="2400" dirty="0"/>
              <a:t>можно сделать более точный расчёт неупр. рассеяния для нейтронов </a:t>
            </a:r>
            <a:r>
              <a:rPr lang="en-US" sz="2400" dirty="0">
                <a:solidFill>
                  <a:srgbClr val="00B0F0"/>
                </a:solidFill>
              </a:rPr>
              <a:t>ReplacePhysics()</a:t>
            </a:r>
            <a:r>
              <a:rPr lang="ru-RU" sz="2400" dirty="0"/>
              <a:t> </a:t>
            </a:r>
            <a:r>
              <a:rPr lang="en-US" sz="2400" dirty="0"/>
              <a:t>):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6E57B-8DDA-D8FD-5E15-FE1635E3AE41}"/>
              </a:ext>
            </a:extLst>
          </p:cNvPr>
          <p:cNvSpPr txBox="1"/>
          <p:nvPr/>
        </p:nvSpPr>
        <p:spPr>
          <a:xfrm>
            <a:off x="1178209" y="3303162"/>
            <a:ext cx="10175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Пример использования листа для низкоэнергетических взаимодействий с дополнительной информациях о радиоактивном распаде</a:t>
            </a:r>
            <a:r>
              <a:rPr lang="en-US" sz="2400" dirty="0"/>
              <a:t>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81BAE0-3E22-AD68-0BCC-B1D8C72F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25" y="4227228"/>
            <a:ext cx="9106930" cy="173554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5FBDC2-D5B4-3DEF-69D3-F428AFA18947}"/>
              </a:ext>
            </a:extLst>
          </p:cNvPr>
          <p:cNvSpPr txBox="1"/>
          <p:nvPr/>
        </p:nvSpPr>
        <p:spPr>
          <a:xfrm>
            <a:off x="4116153" y="6031210"/>
            <a:ext cx="4299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hlinkClick r:id="rId3"/>
              </a:rPr>
              <a:t>Полный список с пояснениями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6183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5E7C5-7F7A-B57E-FBF7-984FEF38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Модульный физический лист.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DF2CA7-FBC2-8DBC-2A59-F08B5C31E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025" y="1459865"/>
            <a:ext cx="11853949" cy="4351338"/>
          </a:xfrm>
        </p:spPr>
        <p:txBody>
          <a:bodyPr>
            <a:normAutofit/>
          </a:bodyPr>
          <a:lstStyle/>
          <a:p>
            <a:pPr marL="0" indent="266700" algn="just">
              <a:buNone/>
            </a:pPr>
            <a:r>
              <a:rPr lang="ru-RU" sz="2400" dirty="0"/>
              <a:t>Наследуем от </a:t>
            </a:r>
            <a:r>
              <a:rPr lang="en-US" sz="2400" dirty="0">
                <a:solidFill>
                  <a:srgbClr val="00B0F0"/>
                </a:solidFill>
              </a:rPr>
              <a:t>G4VModularPhysicList()</a:t>
            </a:r>
            <a:r>
              <a:rPr lang="en-US" sz="2400" dirty="0"/>
              <a:t>.</a:t>
            </a:r>
            <a:r>
              <a:rPr lang="ru-RU" sz="2400" dirty="0"/>
              <a:t> Наш новый класс содержит конструктор</a:t>
            </a:r>
            <a:r>
              <a:rPr lang="en-US" sz="2400" dirty="0"/>
              <a:t>, </a:t>
            </a:r>
            <a:r>
              <a:rPr lang="ru-RU" sz="2400" dirty="0"/>
              <a:t>внутри которого мы регистрируем другие модули физики при помощи метода </a:t>
            </a:r>
            <a:r>
              <a:rPr lang="en-US" sz="2400" dirty="0" err="1">
                <a:solidFill>
                  <a:srgbClr val="00B0F0"/>
                </a:solidFill>
              </a:rPr>
              <a:t>RegisterPhysics</a:t>
            </a:r>
            <a:r>
              <a:rPr lang="en-US" sz="2400" dirty="0">
                <a:solidFill>
                  <a:srgbClr val="00B0F0"/>
                </a:solidFill>
              </a:rPr>
              <a:t>()</a:t>
            </a:r>
            <a:r>
              <a:rPr lang="ru-RU" sz="2400" dirty="0"/>
              <a:t>.</a:t>
            </a:r>
            <a:r>
              <a:rPr lang="en-US" sz="2400" dirty="0"/>
              <a:t> </a:t>
            </a:r>
            <a:r>
              <a:rPr lang="ru-RU" sz="2400" dirty="0"/>
              <a:t>Таким образом получится собрать </a:t>
            </a:r>
            <a:r>
              <a:rPr lang="ru-RU" sz="2400" dirty="0">
                <a:solidFill>
                  <a:srgbClr val="FF0000"/>
                </a:solidFill>
              </a:rPr>
              <a:t>свою физику</a:t>
            </a:r>
            <a:r>
              <a:rPr lang="ru-RU" sz="2400" dirty="0"/>
              <a:t>, используя только </a:t>
            </a:r>
            <a:r>
              <a:rPr lang="ru-RU" sz="2400" dirty="0">
                <a:solidFill>
                  <a:srgbClr val="FF0000"/>
                </a:solidFill>
              </a:rPr>
              <a:t>нужные процессы </a:t>
            </a:r>
            <a:r>
              <a:rPr lang="ru-RU" sz="2400" dirty="0"/>
              <a:t>(можно увеличить скорость работы).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23CB78-EBD3-3361-7B0D-2D1F9E1B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422" b="48435"/>
          <a:stretch/>
        </p:blipFill>
        <p:spPr>
          <a:xfrm>
            <a:off x="2700187" y="3077486"/>
            <a:ext cx="6791626" cy="331835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4960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02B4-3282-CDC6-B81D-F16AC96EE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83590-DB85-66D7-BD85-4E12C629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Пользовательский физический лист.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DCBE62-D97A-EF63-7B59-D0860B2C1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389" y="1391917"/>
            <a:ext cx="11161221" cy="5100958"/>
          </a:xfrm>
        </p:spPr>
        <p:txBody>
          <a:bodyPr>
            <a:noAutofit/>
          </a:bodyPr>
          <a:lstStyle/>
          <a:p>
            <a:pPr marL="0" indent="266700" algn="ctr">
              <a:buNone/>
            </a:pPr>
            <a:r>
              <a:rPr lang="ru-RU" sz="2500" i="1" u="sng" dirty="0"/>
              <a:t>Самая низкоуровневая настройка физики.</a:t>
            </a:r>
          </a:p>
          <a:p>
            <a:pPr marL="0" indent="266700">
              <a:buNone/>
            </a:pPr>
            <a:r>
              <a:rPr lang="ru-RU" sz="2500" dirty="0"/>
              <a:t>Пользовательский класс наследуется от </a:t>
            </a:r>
            <a:r>
              <a:rPr lang="en-US" sz="2500" b="1" dirty="0">
                <a:solidFill>
                  <a:srgbClr val="FF0000"/>
                </a:solidFill>
              </a:rPr>
              <a:t>pure-virtual G4ModularPhysicsList</a:t>
            </a:r>
            <a:r>
              <a:rPr lang="en-US" sz="2500" dirty="0"/>
              <a:t>. </a:t>
            </a:r>
            <a:r>
              <a:rPr lang="ru-RU" sz="2500" dirty="0"/>
              <a:t>Обязательными методами являются</a:t>
            </a:r>
            <a:r>
              <a:rPr lang="en-US" sz="2500" dirty="0"/>
              <a:t>:</a:t>
            </a:r>
          </a:p>
          <a:p>
            <a:r>
              <a:rPr lang="en-US" sz="2500" b="1" dirty="0" err="1">
                <a:solidFill>
                  <a:srgbClr val="00B0F0"/>
                </a:solidFill>
              </a:rPr>
              <a:t>ConstructParticle</a:t>
            </a:r>
            <a:r>
              <a:rPr lang="en-US" sz="2500" b="1" dirty="0">
                <a:solidFill>
                  <a:srgbClr val="00B0F0"/>
                </a:solidFill>
              </a:rPr>
              <a:t>()</a:t>
            </a:r>
            <a:r>
              <a:rPr lang="en-US" sz="2500" dirty="0"/>
              <a:t> – </a:t>
            </a:r>
            <a:r>
              <a:rPr lang="ru-RU" sz="2500" dirty="0"/>
              <a:t>здесь учитываются все частицы</a:t>
            </a:r>
            <a:r>
              <a:rPr lang="en-US" sz="2500" dirty="0"/>
              <a:t>,</a:t>
            </a:r>
            <a:r>
              <a:rPr lang="ru-RU" sz="2500" dirty="0"/>
              <a:t> которые будут регистрироваться в симуляции.</a:t>
            </a:r>
            <a:endParaRPr lang="en-US" sz="2500" dirty="0"/>
          </a:p>
          <a:p>
            <a:r>
              <a:rPr lang="en-US" sz="2500" b="1" dirty="0" err="1">
                <a:solidFill>
                  <a:srgbClr val="00B0F0"/>
                </a:solidFill>
              </a:rPr>
              <a:t>ConstructProcess</a:t>
            </a:r>
            <a:r>
              <a:rPr lang="en-US" sz="2500" b="1" dirty="0">
                <a:solidFill>
                  <a:srgbClr val="00B0F0"/>
                </a:solidFill>
              </a:rPr>
              <a:t>()</a:t>
            </a:r>
            <a:r>
              <a:rPr lang="ru-RU" sz="2500" dirty="0"/>
              <a:t> – определяются все процессы (пр. фотоэффект</a:t>
            </a:r>
            <a:r>
              <a:rPr lang="en-US" sz="2500" dirty="0"/>
              <a:t>, </a:t>
            </a:r>
            <a:r>
              <a:rPr lang="ru-RU" sz="2500" dirty="0"/>
              <a:t>комптоновское рассеяние)</a:t>
            </a:r>
            <a:r>
              <a:rPr lang="en-US" sz="2500" dirty="0"/>
              <a:t>, </a:t>
            </a:r>
            <a:r>
              <a:rPr lang="ru-RU" sz="2500" dirty="0"/>
              <a:t>которые будут происходить с нашими частицами.</a:t>
            </a:r>
          </a:p>
          <a:p>
            <a:pPr marL="0" indent="266700" algn="just">
              <a:buNone/>
            </a:pPr>
            <a:r>
              <a:rPr lang="ru-RU" sz="2500" b="1" dirty="0">
                <a:solidFill>
                  <a:srgbClr val="FF0000"/>
                </a:solidFill>
              </a:rPr>
              <a:t>Все</a:t>
            </a:r>
            <a:r>
              <a:rPr lang="ru-RU" sz="2500" dirty="0"/>
              <a:t> </a:t>
            </a:r>
            <a:r>
              <a:rPr lang="ru-RU" sz="2500" u="sng" dirty="0"/>
              <a:t>известные частицы</a:t>
            </a:r>
            <a:r>
              <a:rPr lang="en-US" sz="2500" dirty="0"/>
              <a:t>, </a:t>
            </a:r>
            <a:r>
              <a:rPr lang="ru-RU" sz="2500" dirty="0"/>
              <a:t>а также </a:t>
            </a:r>
            <a:r>
              <a:rPr lang="ru-RU" sz="2500" b="1" dirty="0">
                <a:solidFill>
                  <a:srgbClr val="FF0000"/>
                </a:solidFill>
              </a:rPr>
              <a:t>большинство</a:t>
            </a:r>
            <a:r>
              <a:rPr lang="ru-RU" sz="2500" dirty="0"/>
              <a:t> </a:t>
            </a:r>
            <a:r>
              <a:rPr lang="ru-RU" sz="2500" u="sng" dirty="0"/>
              <a:t>изученных процессов</a:t>
            </a:r>
            <a:r>
              <a:rPr lang="ru-RU" sz="2500" dirty="0"/>
              <a:t> уже определены в базе </a:t>
            </a:r>
            <a:r>
              <a:rPr lang="en-US" sz="2500" dirty="0"/>
              <a:t>Geant4. </a:t>
            </a:r>
            <a:r>
              <a:rPr lang="ru-RU" sz="2500" dirty="0"/>
              <a:t>Под определением процесса понимается учет </a:t>
            </a:r>
            <a:r>
              <a:rPr lang="ru-RU" sz="2500" b="1" dirty="0">
                <a:solidFill>
                  <a:srgbClr val="00B0F0"/>
                </a:solidFill>
              </a:rPr>
              <a:t>сечений</a:t>
            </a:r>
            <a:r>
              <a:rPr lang="ru-RU" sz="2500" dirty="0"/>
              <a:t> всех взаимодействий и </a:t>
            </a:r>
            <a:r>
              <a:rPr lang="ru-RU" sz="2500" dirty="0">
                <a:solidFill>
                  <a:srgbClr val="00B0F0"/>
                </a:solidFill>
              </a:rPr>
              <a:t>энергии</a:t>
            </a:r>
            <a:r>
              <a:rPr lang="ru-RU" sz="2500" dirty="0"/>
              <a:t>.</a:t>
            </a:r>
          </a:p>
          <a:p>
            <a:pPr marL="0" indent="266700" algn="ctr">
              <a:buNone/>
            </a:pPr>
            <a:r>
              <a:rPr lang="ru-RU" sz="2500" dirty="0">
                <a:solidFill>
                  <a:srgbClr val="FF0000"/>
                </a:solidFill>
              </a:rPr>
              <a:t>При необходимости можно полностью с нуля создать свою частицу или процесс</a:t>
            </a:r>
            <a:r>
              <a:rPr lang="en-US" sz="2500" dirty="0">
                <a:solidFill>
                  <a:srgbClr val="FF0000"/>
                </a:solidFill>
              </a:rPr>
              <a:t> !</a:t>
            </a:r>
            <a:endParaRPr lang="ru-RU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6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8BCE-7573-CDA9-A0B7-BCB7EBC1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776C2-6F8A-B43B-EEF7-671BCCED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Пользовательский физический лист.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577D19-3453-1EF7-A41F-7C16470A2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708" y="1516776"/>
            <a:ext cx="5842584" cy="497609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7667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AA2208-35B2-F8EF-A27B-E2D4A520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Частицы в </a:t>
            </a:r>
            <a:r>
              <a:rPr lang="en-US"/>
              <a:t>Geant4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12971-919C-F139-1D1F-C16D1ED23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866"/>
            <a:ext cx="10515600" cy="4682053"/>
          </a:xfrm>
        </p:spPr>
        <p:txBody>
          <a:bodyPr>
            <a:normAutofit/>
          </a:bodyPr>
          <a:lstStyle/>
          <a:p>
            <a:pPr algn="just"/>
            <a:r>
              <a:rPr lang="ru-RU" sz="3200" dirty="0"/>
              <a:t>Элементарные частицы</a:t>
            </a:r>
            <a:r>
              <a:rPr lang="en-US" sz="3200" dirty="0"/>
              <a:t>, </a:t>
            </a:r>
            <a:r>
              <a:rPr lang="ru-RU" sz="3200" dirty="0"/>
              <a:t>переносчики фундаментальных взаимодействий.</a:t>
            </a:r>
          </a:p>
          <a:p>
            <a:pPr algn="just"/>
            <a:r>
              <a:rPr lang="ru-RU" sz="3200" dirty="0"/>
              <a:t>Оптические фотоны.</a:t>
            </a:r>
          </a:p>
          <a:p>
            <a:pPr algn="just"/>
            <a:r>
              <a:rPr lang="en-US" sz="3200" dirty="0"/>
              <a:t>Geantino</a:t>
            </a:r>
            <a:r>
              <a:rPr lang="ru-RU" sz="3200" dirty="0"/>
              <a:t> </a:t>
            </a:r>
            <a:r>
              <a:rPr lang="ru-RU" dirty="0"/>
              <a:t>(не взаимодействует с веществом</a:t>
            </a:r>
            <a:r>
              <a:rPr lang="en-US" dirty="0"/>
              <a:t>, </a:t>
            </a:r>
            <a:r>
              <a:rPr lang="ru-RU" dirty="0"/>
              <a:t>не имеет массы и спина</a:t>
            </a:r>
            <a:r>
              <a:rPr lang="en-US" dirty="0"/>
              <a:t>; </a:t>
            </a:r>
            <a:r>
              <a:rPr lang="ru-RU" dirty="0"/>
              <a:t>заряженная версия отклоняется в полях без потери энергии).</a:t>
            </a:r>
          </a:p>
          <a:p>
            <a:pPr algn="just"/>
            <a:r>
              <a:rPr lang="ru-RU" sz="3200" dirty="0"/>
              <a:t>Короткоживущие частицы (не перемещаются).</a:t>
            </a:r>
          </a:p>
          <a:p>
            <a:pPr algn="just"/>
            <a:r>
              <a:rPr lang="ru-RU" sz="3200" dirty="0"/>
              <a:t>Ионы разных форм (</a:t>
            </a:r>
            <a:r>
              <a:rPr lang="en-US" sz="3200" dirty="0"/>
              <a:t>G4Ions</a:t>
            </a:r>
            <a:r>
              <a:rPr lang="ru-RU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01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56119-7F7C-9757-A05D-54CF1EAF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Список основных частиц.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BB26C7-5C19-F951-4A00-E98ABB49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408153"/>
            <a:ext cx="5829300" cy="522922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42893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E059A-CE22-4096-BB09-7FC365ED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для </a:t>
            </a:r>
            <a:r>
              <a:rPr lang="en-US" dirty="0" err="1"/>
              <a:t>UIManager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FEE5FB-B127-D695-6E28-E8012BAD1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" y="1690688"/>
            <a:ext cx="4240871" cy="292006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1025CD-FB23-DDF8-2D9E-FCC759FFA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450" y="1569734"/>
            <a:ext cx="6021896" cy="457957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189E1B-42E3-8BF5-3F71-5400C07D5B75}"/>
              </a:ext>
            </a:extLst>
          </p:cNvPr>
          <p:cNvSpPr txBox="1"/>
          <p:nvPr/>
        </p:nvSpPr>
        <p:spPr>
          <a:xfrm>
            <a:off x="134112" y="4813369"/>
            <a:ext cx="554736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Команды можно записывать в окне симуляции, либо использовать в </a:t>
            </a:r>
            <a:r>
              <a:rPr lang="en-US" sz="2000" dirty="0"/>
              <a:t>.mac </a:t>
            </a:r>
            <a:r>
              <a:rPr lang="ru-RU" sz="2000" dirty="0"/>
              <a:t>файлах.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40CC7-B977-FC07-62ED-B2209B47B5DC}"/>
              </a:ext>
            </a:extLst>
          </p:cNvPr>
          <p:cNvSpPr txBox="1"/>
          <p:nvPr/>
        </p:nvSpPr>
        <p:spPr>
          <a:xfrm>
            <a:off x="134112" y="5723875"/>
            <a:ext cx="554736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Введя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B0F0"/>
                </a:solidFill>
              </a:rPr>
              <a:t>/control/manual</a:t>
            </a:r>
            <a:r>
              <a:rPr lang="en-US" sz="2000" dirty="0"/>
              <a:t> </a:t>
            </a:r>
            <a:r>
              <a:rPr lang="ru-RU" sz="2000" dirty="0"/>
              <a:t>можно получить список всех команд для </a:t>
            </a:r>
            <a:r>
              <a:rPr lang="en-US" sz="2000" dirty="0" err="1"/>
              <a:t>UImanager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60157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19FC1-277F-ACDC-37F3-F8B6DFAD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G4VUserPrimaryGeneratorAction.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E73B60-681B-CD95-0078-CFF9E8F6D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97" y="1341113"/>
            <a:ext cx="11196651" cy="4351338"/>
          </a:xfrm>
        </p:spPr>
        <p:txBody>
          <a:bodyPr>
            <a:normAutofit/>
          </a:bodyPr>
          <a:lstStyle/>
          <a:p>
            <a:pPr marL="82550" indent="273050" algn="just"/>
            <a:r>
              <a:rPr lang="ru-RU" sz="2600" dirty="0"/>
              <a:t>Является базовым классом пользовательского генератора первичных событий (первичных частиц).</a:t>
            </a:r>
            <a:r>
              <a:rPr lang="en-US" sz="2600" dirty="0"/>
              <a:t> </a:t>
            </a:r>
            <a:r>
              <a:rPr lang="ru-RU" sz="2600" dirty="0"/>
              <a:t>Чаще всего реализуется в </a:t>
            </a:r>
            <a:r>
              <a:rPr lang="en-US" sz="2600" b="1" dirty="0" err="1">
                <a:solidFill>
                  <a:srgbClr val="00B0F0"/>
                </a:solidFill>
              </a:rPr>
              <a:t>PrimaryGenerator.hh</a:t>
            </a:r>
            <a:r>
              <a:rPr lang="en-US" sz="2600" b="1" dirty="0">
                <a:solidFill>
                  <a:srgbClr val="00B0F0"/>
                </a:solidFill>
              </a:rPr>
              <a:t> </a:t>
            </a:r>
            <a:endParaRPr lang="ru-RU" sz="2600" b="1" dirty="0">
              <a:solidFill>
                <a:srgbClr val="00B0F0"/>
              </a:solidFill>
            </a:endParaRPr>
          </a:p>
          <a:p>
            <a:pPr marL="82550" indent="273050" algn="just"/>
            <a:r>
              <a:rPr lang="ru-RU" sz="2600" dirty="0"/>
              <a:t>Он определяет способ генерации</a:t>
            </a:r>
            <a:r>
              <a:rPr lang="en-US" sz="2600" dirty="0"/>
              <a:t>:</a:t>
            </a:r>
            <a:r>
              <a:rPr lang="ru-RU" sz="2600" dirty="0"/>
              <a:t> </a:t>
            </a:r>
            <a:r>
              <a:rPr lang="en-US" sz="2600" b="1" dirty="0">
                <a:solidFill>
                  <a:srgbClr val="00B0F0"/>
                </a:solidFill>
              </a:rPr>
              <a:t>G4ParticleGun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00B0F0"/>
                </a:solidFill>
              </a:rPr>
              <a:t>G4HEPEvtInterface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00B0F0"/>
                </a:solidFill>
              </a:rPr>
              <a:t>G4GeneralParticleSource</a:t>
            </a:r>
            <a:r>
              <a:rPr lang="en-US" sz="2600" dirty="0"/>
              <a:t>.</a:t>
            </a:r>
            <a:endParaRPr lang="ru-RU" sz="2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73544F-4A93-3F5D-12B0-FBF5296A4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12" y="3429000"/>
            <a:ext cx="7923415" cy="318014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30881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59045-3774-E659-3F88-E4C0A66E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G4ParticleGun.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D381F3-0DC7-71EF-ED27-499BA96E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25" y="1374362"/>
            <a:ext cx="11563399" cy="4351338"/>
          </a:xfrm>
        </p:spPr>
        <p:txBody>
          <a:bodyPr/>
          <a:lstStyle/>
          <a:p>
            <a:pPr algn="just"/>
            <a:r>
              <a:rPr lang="ru-RU" dirty="0"/>
              <a:t>Представляет собой настраиваемый источник частиц (ассоциация с пушкой частиц). Благодаря основным методам можно настроить разные параметры генерации (вид частиц</a:t>
            </a:r>
            <a:r>
              <a:rPr lang="en-US" dirty="0"/>
              <a:t>, </a:t>
            </a:r>
            <a:r>
              <a:rPr lang="ru-RU" dirty="0"/>
              <a:t>энергии</a:t>
            </a:r>
            <a:r>
              <a:rPr lang="en-US" dirty="0"/>
              <a:t>, </a:t>
            </a:r>
            <a:r>
              <a:rPr lang="ru-RU" dirty="0"/>
              <a:t>направление и </a:t>
            </a:r>
            <a:r>
              <a:rPr lang="ru-RU" dirty="0" err="1"/>
              <a:t>тд</a:t>
            </a:r>
            <a:r>
              <a:rPr lang="ru-RU" dirty="0"/>
              <a:t>.)</a:t>
            </a:r>
            <a:endParaRPr lang="en-US" dirty="0"/>
          </a:p>
          <a:p>
            <a:pPr marL="0" indent="450850" algn="ctr">
              <a:buNone/>
            </a:pPr>
            <a:r>
              <a:rPr lang="ru-RU" dirty="0"/>
              <a:t>Основные методы</a:t>
            </a:r>
            <a:r>
              <a:rPr lang="en-US" dirty="0"/>
              <a:t>:</a:t>
            </a:r>
          </a:p>
          <a:p>
            <a:pPr marL="0" indent="450850" algn="ctr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2B4E9D-B3BF-D4E7-F918-A5F33AA7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64" y="3571195"/>
            <a:ext cx="6335271" cy="215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8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5193D-3321-6962-455A-3C683A3B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 err="1"/>
              <a:t>ParticleGun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EB5837-064A-44CC-A439-410A320A6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788" y="1453182"/>
            <a:ext cx="5873090" cy="525661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99EF85-3607-45E1-D454-086E9D9A3D7F}"/>
              </a:ext>
            </a:extLst>
          </p:cNvPr>
          <p:cNvSpPr txBox="1"/>
          <p:nvPr/>
        </p:nvSpPr>
        <p:spPr>
          <a:xfrm>
            <a:off x="213756" y="2118065"/>
            <a:ext cx="5462649" cy="3277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300" dirty="0"/>
              <a:t>	</a:t>
            </a:r>
            <a:r>
              <a:rPr lang="ru-RU" sz="2300" dirty="0"/>
              <a:t>В коде происходит создание и настройка </a:t>
            </a:r>
            <a:r>
              <a:rPr lang="en-US" sz="2300" dirty="0" err="1"/>
              <a:t>ParticleGun</a:t>
            </a:r>
            <a:r>
              <a:rPr lang="en-US" sz="23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Устанавливается положение точки генерации частиц.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Настраиваем направление генерации.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Выбираем и создаём тип частицы.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Запускаем стек генерации и кладём в него указатель на </a:t>
            </a:r>
            <a:r>
              <a:rPr lang="en-US" sz="2300" dirty="0"/>
              <a:t>Event.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2192662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54E45-AF1B-87F7-EA01-59236224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телесного угла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6B83F95-0A69-A022-3E74-55A54FB56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246" y="1981303"/>
            <a:ext cx="5752934" cy="275227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6BFA3-33F9-D652-EFC3-4AA2DB73497A}"/>
              </a:ext>
            </a:extLst>
          </p:cNvPr>
          <p:cNvSpPr txBox="1"/>
          <p:nvPr/>
        </p:nvSpPr>
        <p:spPr>
          <a:xfrm>
            <a:off x="6424654" y="1758147"/>
            <a:ext cx="56136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4500" algn="just"/>
            <a:r>
              <a:rPr lang="ru-RU" sz="2400" dirty="0"/>
              <a:t>Одним из важнейших частных случаев распространения частиц является изотропное распределение внутри конуса (телесный угол).</a:t>
            </a:r>
          </a:p>
          <a:p>
            <a:pPr indent="444500" algn="just"/>
            <a:r>
              <a:rPr lang="ru-RU" sz="2400" dirty="0"/>
              <a:t>Частицы могут вылетать в любом направлении по периферии конуса</a:t>
            </a:r>
            <a:r>
              <a:rPr lang="en-US" sz="2400" dirty="0"/>
              <a:t>, </a:t>
            </a:r>
            <a:r>
              <a:rPr lang="ru-RU" sz="2400" dirty="0"/>
              <a:t>а также под углом раствора внутренних конусов.</a:t>
            </a:r>
          </a:p>
        </p:txBody>
      </p:sp>
    </p:spTree>
    <p:extLst>
      <p:ext uri="{BB962C8B-B14F-4D97-AF65-F5344CB8AC3E}">
        <p14:creationId xmlns:p14="http://schemas.microsoft.com/office/powerpoint/2010/main" val="4038008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05C23-F308-E2D1-80E4-5C9B5D86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Пример реализации</a:t>
            </a:r>
            <a:r>
              <a:rPr lang="en-US"/>
              <a:t>.</a:t>
            </a:r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6A93790-F943-68BE-7F4E-409BD669F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6533" y="2258733"/>
            <a:ext cx="6278933" cy="2340534"/>
          </a:xfr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1920CB-54BD-8B45-37CB-CD90AFD38329}"/>
                  </a:ext>
                </a:extLst>
              </p:cNvPr>
              <p:cNvSpPr txBox="1"/>
              <p:nvPr/>
            </p:nvSpPr>
            <p:spPr>
              <a:xfrm>
                <a:off x="2688969" y="4739942"/>
                <a:ext cx="2345332" cy="3077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dX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dY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dZ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ru-RU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1920CB-54BD-8B45-37CB-CD90AFD3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969" y="4739942"/>
                <a:ext cx="234533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1A663D0-1930-C1FD-7595-0381903D260D}"/>
              </a:ext>
            </a:extLst>
          </p:cNvPr>
          <p:cNvSpPr txBox="1"/>
          <p:nvPr/>
        </p:nvSpPr>
        <p:spPr>
          <a:xfrm>
            <a:off x="5034301" y="4709164"/>
            <a:ext cx="4441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–</a:t>
            </a:r>
            <a:r>
              <a:rPr lang="ru-RU"/>
              <a:t> Условие нормировки вектора импульса</a:t>
            </a:r>
          </a:p>
        </p:txBody>
      </p:sp>
    </p:spTree>
    <p:extLst>
      <p:ext uri="{BB962C8B-B14F-4D97-AF65-F5344CB8AC3E}">
        <p14:creationId xmlns:p14="http://schemas.microsoft.com/office/powerpoint/2010/main" val="31210901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3240</TotalTime>
  <Words>647</Words>
  <Application>Microsoft Office PowerPoint</Application>
  <PresentationFormat>Широкоэкранный</PresentationFormat>
  <Paragraphs>59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Cambria Math</vt:lpstr>
      <vt:lpstr>Franklin Gothic Book</vt:lpstr>
      <vt:lpstr>Franklin Gothic Medium</vt:lpstr>
      <vt:lpstr>Times New Roman</vt:lpstr>
      <vt:lpstr>Тема Office</vt:lpstr>
      <vt:lpstr>Создание частиц.</vt:lpstr>
      <vt:lpstr>Макросы для написания программ.</vt:lpstr>
      <vt:lpstr>Макросы для написания программ.</vt:lpstr>
      <vt:lpstr>Пример vis.mac</vt:lpstr>
      <vt:lpstr>Физический лист.</vt:lpstr>
      <vt:lpstr>Референсный физический лист.</vt:lpstr>
      <vt:lpstr>Модульный физический лист.</vt:lpstr>
      <vt:lpstr>Пользовательский физический лист.</vt:lpstr>
      <vt:lpstr>Пользовательский физический лист.</vt:lpstr>
      <vt:lpstr>Частицы в Geant4</vt:lpstr>
      <vt:lpstr>Список основных частиц.</vt:lpstr>
      <vt:lpstr>Команды для UIManager.</vt:lpstr>
      <vt:lpstr>G4VUserPrimaryGeneratorAction.</vt:lpstr>
      <vt:lpstr>G4ParticleGun.</vt:lpstr>
      <vt:lpstr>Пример ParticleGun</vt:lpstr>
      <vt:lpstr>Задание телесного угла.</vt:lpstr>
      <vt:lpstr>Пример реализации.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s4h0</dc:creator>
  <cp:lastModifiedBy>s4h0</cp:lastModifiedBy>
  <cp:revision>40</cp:revision>
  <dcterms:created xsi:type="dcterms:W3CDTF">2026-08-03T21:36:50Z</dcterms:created>
  <dcterms:modified xsi:type="dcterms:W3CDTF">2026-10-23T20:32:30Z</dcterms:modified>
</cp:coreProperties>
</file>