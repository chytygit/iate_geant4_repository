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1" r:id="rId3"/>
    <p:sldId id="272" r:id="rId4"/>
    <p:sldId id="273" r:id="rId5"/>
    <p:sldId id="257" r:id="rId6"/>
    <p:sldId id="259" r:id="rId7"/>
    <p:sldId id="258" r:id="rId8"/>
    <p:sldId id="260" r:id="rId9"/>
    <p:sldId id="261" r:id="rId10"/>
    <p:sldId id="267" r:id="rId11"/>
    <p:sldId id="266" r:id="rId12"/>
    <p:sldId id="268" r:id="rId13"/>
    <p:sldId id="262" r:id="rId14"/>
    <p:sldId id="263" r:id="rId15"/>
    <p:sldId id="274" r:id="rId16"/>
    <p:sldId id="264" r:id="rId17"/>
    <p:sldId id="265" r:id="rId18"/>
    <p:sldId id="275" r:id="rId1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4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F358A7-093C-480B-993A-0861A57B27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BF2E600-78AB-1BE5-C516-3EEBA3B2B0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1E4A3F8-6931-DE53-56E3-30659A7DA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05E500-4597-4678-93A6-CB8769BDF149}" type="datetimeFigureOut">
              <a:rPr lang="ru-RU" smtClean="0"/>
              <a:t>23.10.2026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A4D6941-EFF6-751D-BA43-35C434EDD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5DED959-0472-853C-7C8A-B2F899F23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F8FC07-A6FE-4A7D-9454-7EC6B92C69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56660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4C5B86-BC51-87EC-1017-6FAA28D76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55B3154-2E0D-4A6D-CC04-38D59C6440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CB9D75D-C45A-A416-D6DA-5AA82E238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05E500-4597-4678-93A6-CB8769BDF149}" type="datetimeFigureOut">
              <a:rPr lang="ru-RU" smtClean="0"/>
              <a:t>23.10.2026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253CAFA-6EC1-833F-B3F0-51EB9DA9F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7CE87D6-9B4D-334B-CEB2-21267355B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F8FC07-A6FE-4A7D-9454-7EC6B92C69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01950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382749-111C-B9AB-EAB0-62F7F6A2F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5B8EC51-D581-066C-DBB3-7CE890076E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D48E219-84ED-6C81-F425-5EB48560C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05E500-4597-4678-93A6-CB8769BDF149}" type="datetimeFigureOut">
              <a:rPr lang="ru-RU" smtClean="0"/>
              <a:t>23.10.2026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D07F86C-DBD3-DC14-DBBF-A6A727B2F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BE11810-5D57-458E-E32E-2DA290A31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F8FC07-A6FE-4A7D-9454-7EC6B92C69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5053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8FD26C-F9D6-EA9F-0B32-356EA6AD2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2B8C9F3-CF80-8344-7EBE-F5CE46EECF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60C0B00-9EFB-7CED-756B-CCF166540B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A30150F-0638-DC72-9A10-8B9A83D85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05E500-4597-4678-93A6-CB8769BDF149}" type="datetimeFigureOut">
              <a:rPr lang="ru-RU" smtClean="0"/>
              <a:t>23.10.2026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5AFB143-EED7-D0FD-A977-180505FED6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7AC4140-9870-CCF9-A596-21FC08F67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F8FC07-A6FE-4A7D-9454-7EC6B92C69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9989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B256C9-389D-6478-8395-6E5C16DD9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EA87100-C7F9-C521-7975-A1A4DF6B42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350C977-6205-60C2-AF70-4886CAFB03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2AB2DA0-E0FB-B91C-98A9-78E6E0B297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9B28282-3485-709F-0108-60CD8F5285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CBCE1B30-12F0-2C18-5215-64ABC5ABD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05E500-4597-4678-93A6-CB8769BDF149}" type="datetimeFigureOut">
              <a:rPr lang="ru-RU" smtClean="0"/>
              <a:t>23.10.2026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7DE80A5-E2F0-E872-AF88-6BFFFE386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B390507-AFE4-A7F8-F1D7-F61093E7D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F8FC07-A6FE-4A7D-9454-7EC6B92C69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6053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F5D513-6E4E-6566-EF2B-875F45CF5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4FB8A4F-CD2A-BFAD-A98C-BD106D711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05E500-4597-4678-93A6-CB8769BDF149}" type="datetimeFigureOut">
              <a:rPr lang="ru-RU" smtClean="0"/>
              <a:t>23.10.2026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862FF52-4AE7-5468-0CF5-5963E1136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FAFC37F-CA7A-6BBF-EF6E-A8B856D78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F8FC07-A6FE-4A7D-9454-7EC6B92C69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5695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808FF41D-2F9E-870D-3845-0B1452288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05E500-4597-4678-93A6-CB8769BDF149}" type="datetimeFigureOut">
              <a:rPr lang="ru-RU" smtClean="0"/>
              <a:t>23.10.2026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5CD43DB-C970-1A11-EF95-F19A37012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4770E49-931A-B26B-1782-DFCF19829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F8FC07-A6FE-4A7D-9454-7EC6B92C69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10780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BED7EB-BAFE-8E99-CF1E-64831E626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D2E745A-18B1-2E81-2F9B-B2C1BC1910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3D79604-9EC2-F12D-33BC-C768151735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2556F33-89E0-D90C-0C18-65907096D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05E500-4597-4678-93A6-CB8769BDF149}" type="datetimeFigureOut">
              <a:rPr lang="ru-RU" smtClean="0"/>
              <a:t>23.10.2026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D92A9CC-CBBA-908B-2002-34FFC45385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B2AB383-2936-9B9A-E7D8-26E0C45CD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F8FC07-A6FE-4A7D-9454-7EC6B92C69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3630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184EF7-F0DA-FC70-9FE0-9FC93F16FE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89C911E-858F-FD34-687D-E359585D61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99726AD-1849-2F36-84EF-3E750715F1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22AACC9-FE4E-1128-1983-CCEF4E40F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05E500-4597-4678-93A6-CB8769BDF149}" type="datetimeFigureOut">
              <a:rPr lang="ru-RU" smtClean="0"/>
              <a:t>23.10.2026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78A3B7F-8244-3B79-B7D3-615B344BA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72E392A-C419-7BCD-2A2A-025676EC7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F8FC07-A6FE-4A7D-9454-7EC6B92C69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067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74DDC3-259D-8D02-5EA8-A33A0E86C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0E8ED25-10AD-416E-E61E-B34B943A0B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08D1706-A9CD-3019-FFCB-2287A8484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05E500-4597-4678-93A6-CB8769BDF149}" type="datetimeFigureOut">
              <a:rPr lang="ru-RU" smtClean="0"/>
              <a:t>23.10.2026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AEEBE0A-6234-6640-10F7-682BB74F5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258B7C0-8DE0-715D-627D-626F135F2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F8FC07-A6FE-4A7D-9454-7EC6B92C69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50405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70C23AAC-3827-9A0D-ED85-F8C744F7F8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D90E39D-3373-581F-8671-CCD1D08F15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CBD59C2-5B40-7234-A639-6DC867F2F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05E500-4597-4678-93A6-CB8769BDF149}" type="datetimeFigureOut">
              <a:rPr lang="ru-RU" smtClean="0"/>
              <a:t>23.10.2026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1194A94-4C21-6367-4F96-D6EAB9DE2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9D2DB2D-9EAB-4AA4-1E46-B50340A8B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F8FC07-A6FE-4A7D-9454-7EC6B92C69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63355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2E8093-FB8B-C703-E6F3-C97BAD6EA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0E7BEA0-FA8E-758B-33F9-FAA82B619A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FEAFE97-FDE8-E245-1776-4CE3F03D3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05E500-4597-4678-93A6-CB8769BDF149}" type="datetimeFigureOut">
              <a:rPr lang="ru-RU" smtClean="0"/>
              <a:t>23.10.2026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BA40984-865E-B5E5-8108-C35C90B996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59C86FC-0BE7-2C51-F1CE-DAD5B984C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F8FC07-A6FE-4A7D-9454-7EC6B92C69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21390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eant4.web.cern.ch/documentation/dev/plg_html/PhysicsListGuide/reference_PL/index.html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90CC2E-8C7C-C5A1-C106-ADE710EDA7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40415"/>
            <a:ext cx="9144000" cy="2387600"/>
          </a:xfrm>
        </p:spPr>
        <p:txBody>
          <a:bodyPr/>
          <a:lstStyle/>
          <a:p>
            <a:r>
              <a:rPr lang="ru-RU"/>
              <a:t>Создание частиц.</a:t>
            </a:r>
          </a:p>
        </p:txBody>
      </p:sp>
    </p:spTree>
    <p:extLst>
      <p:ext uri="{BB962C8B-B14F-4D97-AF65-F5344CB8AC3E}">
        <p14:creationId xmlns:p14="http://schemas.microsoft.com/office/powerpoint/2010/main" val="1040264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ED4D63-142C-5DB4-1BA2-C0DF11CC5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Макросы для написания программ.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18C1964-FD90-A492-8397-0B52ED1EA9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429" y="1433740"/>
            <a:ext cx="11607141" cy="5059135"/>
          </a:xfrm>
        </p:spPr>
        <p:txBody>
          <a:bodyPr/>
          <a:lstStyle/>
          <a:p>
            <a:pPr algn="just"/>
            <a:r>
              <a:rPr lang="ru-RU" dirty="0"/>
              <a:t>Макросы (</a:t>
            </a:r>
            <a:r>
              <a:rPr lang="en-US" dirty="0"/>
              <a:t>.mac </a:t>
            </a:r>
            <a:r>
              <a:rPr lang="ru-RU" dirty="0"/>
              <a:t>файлы) в </a:t>
            </a:r>
            <a:r>
              <a:rPr lang="en-US" dirty="0"/>
              <a:t>Geant4 </a:t>
            </a:r>
            <a:r>
              <a:rPr lang="ru-RU" dirty="0"/>
              <a:t>содержат набор команд для </a:t>
            </a:r>
            <a:r>
              <a:rPr lang="en-US" dirty="0" err="1">
                <a:solidFill>
                  <a:srgbClr val="00B0F0"/>
                </a:solidFill>
              </a:rPr>
              <a:t>UImanger</a:t>
            </a:r>
            <a:r>
              <a:rPr lang="en-US" dirty="0"/>
              <a:t>. </a:t>
            </a:r>
            <a:r>
              <a:rPr lang="ru-RU" dirty="0"/>
              <a:t>При помощи их можно выполнять  одни и те же инструкции, не вводя команды каждый раз вручную.</a:t>
            </a:r>
          </a:p>
          <a:p>
            <a:pPr algn="just"/>
            <a:r>
              <a:rPr lang="ru-RU" dirty="0"/>
              <a:t>Это особенно полезно в следующих задачах</a:t>
            </a:r>
            <a:r>
              <a:rPr lang="en-US" dirty="0"/>
              <a:t>:</a:t>
            </a:r>
          </a:p>
          <a:p>
            <a:pPr marL="971550" lvl="1" indent="-514350" algn="just">
              <a:buFont typeface="+mj-lt"/>
              <a:buAutoNum type="arabicPeriod"/>
            </a:pPr>
            <a:r>
              <a:rPr lang="ru-RU" sz="2800" dirty="0"/>
              <a:t>Макрос</a:t>
            </a:r>
            <a:r>
              <a:rPr lang="ru-RU" sz="2800" dirty="0">
                <a:solidFill>
                  <a:srgbClr val="00B0F0"/>
                </a:solidFill>
              </a:rPr>
              <a:t> </a:t>
            </a:r>
            <a:r>
              <a:rPr lang="en-US" sz="2800" dirty="0">
                <a:solidFill>
                  <a:srgbClr val="00B0F0"/>
                </a:solidFill>
              </a:rPr>
              <a:t>Vis.mac</a:t>
            </a:r>
            <a:r>
              <a:rPr lang="en-US" sz="2800" dirty="0"/>
              <a:t>, </a:t>
            </a:r>
            <a:r>
              <a:rPr lang="ru-RU" sz="2800" dirty="0"/>
              <a:t>отвечающий за создание визуального окошка (указываем нужное расширение, цвет траекторий частиц, авто обновление объёмов).</a:t>
            </a:r>
          </a:p>
          <a:p>
            <a:pPr marL="971550" lvl="1" indent="-514350" algn="just">
              <a:buFont typeface="+mj-lt"/>
              <a:buAutoNum type="arabicPeriod"/>
            </a:pPr>
            <a:r>
              <a:rPr lang="ru-RU" sz="2800" dirty="0"/>
              <a:t>Файлы, отвечающие за генерацию частиц с необходимым </a:t>
            </a:r>
            <a:r>
              <a:rPr lang="ru-RU" sz="2800" dirty="0">
                <a:solidFill>
                  <a:srgbClr val="00B0F0"/>
                </a:solidFill>
              </a:rPr>
              <a:t>энергетическим</a:t>
            </a:r>
            <a:r>
              <a:rPr lang="ru-RU" sz="2800" dirty="0"/>
              <a:t> и </a:t>
            </a:r>
            <a:r>
              <a:rPr lang="ru-RU" sz="2800" dirty="0">
                <a:solidFill>
                  <a:srgbClr val="00B0F0"/>
                </a:solidFill>
              </a:rPr>
              <a:t>пространственным</a:t>
            </a:r>
            <a:r>
              <a:rPr lang="ru-RU" sz="2800" dirty="0"/>
              <a:t> распределением.</a:t>
            </a:r>
          </a:p>
          <a:p>
            <a:pPr marL="971550" lvl="1" indent="-514350" algn="just">
              <a:buFont typeface="+mj-lt"/>
              <a:buAutoNum type="arabicPeriod"/>
            </a:pPr>
            <a:r>
              <a:rPr lang="ru-RU" sz="2800" dirty="0"/>
              <a:t>Файлы-циклы, в которых мы делаем сразу много запусков, </a:t>
            </a:r>
            <a:r>
              <a:rPr lang="ru-RU" sz="2800" dirty="0">
                <a:solidFill>
                  <a:srgbClr val="FF0000"/>
                </a:solidFill>
              </a:rPr>
              <a:t>меняя</a:t>
            </a:r>
            <a:r>
              <a:rPr lang="ru-RU" sz="2800" dirty="0"/>
              <a:t> при каждом из них </a:t>
            </a:r>
            <a:r>
              <a:rPr lang="ru-RU" sz="2800" dirty="0">
                <a:solidFill>
                  <a:srgbClr val="FF0000"/>
                </a:solidFill>
              </a:rPr>
              <a:t>необходимый параметр</a:t>
            </a:r>
            <a:r>
              <a:rPr lang="ru-RU" sz="2800" dirty="0"/>
              <a:t> (размещение источника излучения, геометрия и </a:t>
            </a:r>
            <a:r>
              <a:rPr lang="ru-RU" sz="2800" dirty="0" err="1"/>
              <a:t>тд</a:t>
            </a:r>
            <a:r>
              <a:rPr lang="ru-RU" sz="2800" dirty="0"/>
              <a:t>.)</a:t>
            </a:r>
          </a:p>
        </p:txBody>
      </p:sp>
    </p:spTree>
    <p:extLst>
      <p:ext uri="{BB962C8B-B14F-4D97-AF65-F5344CB8AC3E}">
        <p14:creationId xmlns:p14="http://schemas.microsoft.com/office/powerpoint/2010/main" val="37283638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EECBD-EDE9-7D56-AA14-23A25B708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9DFECC-306C-EC8F-B59A-81ED983BA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Макросы для написания программ.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0C2ECA0-7D20-571C-31BE-B8824B5357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428" y="1791669"/>
            <a:ext cx="5779448" cy="3274662"/>
          </a:xfrm>
        </p:spPr>
        <p:txBody>
          <a:bodyPr>
            <a:normAutofit lnSpcReduction="10000"/>
          </a:bodyPr>
          <a:lstStyle/>
          <a:p>
            <a:pPr algn="just"/>
            <a:r>
              <a:rPr lang="ru-RU" dirty="0"/>
              <a:t>В соответствие с этим существует стандартизированный и максимально удобный вид </a:t>
            </a:r>
            <a:r>
              <a:rPr lang="en-US" dirty="0">
                <a:solidFill>
                  <a:srgbClr val="00B0F0"/>
                </a:solidFill>
              </a:rPr>
              <a:t>main-</a:t>
            </a:r>
            <a:r>
              <a:rPr lang="ru-RU" dirty="0">
                <a:solidFill>
                  <a:srgbClr val="00B0F0"/>
                </a:solidFill>
              </a:rPr>
              <a:t>файла</a:t>
            </a:r>
            <a:r>
              <a:rPr lang="ru-RU" dirty="0"/>
              <a:t>, который предполагает использование макросов.</a:t>
            </a:r>
            <a:endParaRPr lang="en-US" dirty="0"/>
          </a:p>
          <a:p>
            <a:pPr algn="just"/>
            <a:r>
              <a:rPr lang="ru-RU" dirty="0"/>
              <a:t>В зависимости от наличия </a:t>
            </a:r>
            <a:r>
              <a:rPr lang="en-US" dirty="0"/>
              <a:t>.mac </a:t>
            </a:r>
            <a:r>
              <a:rPr lang="ru-RU" dirty="0"/>
              <a:t>файла используется </a:t>
            </a:r>
            <a:r>
              <a:rPr lang="en-US" dirty="0">
                <a:solidFill>
                  <a:srgbClr val="00B0F0"/>
                </a:solidFill>
              </a:rPr>
              <a:t>interactive</a:t>
            </a:r>
            <a:r>
              <a:rPr lang="en-US" dirty="0"/>
              <a:t> </a:t>
            </a:r>
            <a:r>
              <a:rPr lang="ru-RU" dirty="0"/>
              <a:t>или </a:t>
            </a:r>
            <a:r>
              <a:rPr lang="en-US" dirty="0">
                <a:solidFill>
                  <a:srgbClr val="00B0F0"/>
                </a:solidFill>
              </a:rPr>
              <a:t>batch</a:t>
            </a:r>
            <a:r>
              <a:rPr lang="ru-RU" dirty="0"/>
              <a:t> </a:t>
            </a:r>
            <a:r>
              <a:rPr lang="en-US" dirty="0"/>
              <a:t>mode.</a:t>
            </a:r>
          </a:p>
          <a:p>
            <a:pPr marL="0" indent="0" algn="just">
              <a:buNone/>
            </a:pPr>
            <a:endParaRPr lang="en-US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662F71A-DB9A-7EB7-BED2-9D3062B1AD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5126" y="1358209"/>
            <a:ext cx="5779449" cy="5305197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20532145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92CFC9-89CD-3CC0-7D2D-43897A8DC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</a:t>
            </a:r>
            <a:r>
              <a:rPr lang="en-US" dirty="0"/>
              <a:t>vis.mac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5764754-284B-9B80-5C18-6C86C16CD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7587" y="1391455"/>
            <a:ext cx="5076825" cy="5286375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4197655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5A5ADEF-55B6-A27B-FE67-CEAB49241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Физический лист.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8416279-A35C-56F0-5B41-E2C3FFCF23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061" y="1499622"/>
            <a:ext cx="11155878" cy="4351338"/>
          </a:xfrm>
        </p:spPr>
        <p:txBody>
          <a:bodyPr/>
          <a:lstStyle/>
          <a:p>
            <a:pPr marL="0" indent="444500" algn="just">
              <a:buNone/>
            </a:pPr>
            <a:r>
              <a:rPr lang="ru-RU" dirty="0"/>
              <a:t>Физический лист определяет</a:t>
            </a:r>
            <a:r>
              <a:rPr lang="en-US" dirty="0"/>
              <a:t>, </a:t>
            </a:r>
            <a:r>
              <a:rPr lang="ru-RU" dirty="0"/>
              <a:t>какие взаимодействия будут учитываться в симуляции (радиоактивный распад</a:t>
            </a:r>
            <a:r>
              <a:rPr lang="en-US" dirty="0"/>
              <a:t>, </a:t>
            </a:r>
            <a:r>
              <a:rPr lang="ru-RU" dirty="0"/>
              <a:t>явления неоднородных электромагнитных полей</a:t>
            </a:r>
            <a:r>
              <a:rPr lang="en-US" dirty="0"/>
              <a:t>, </a:t>
            </a:r>
            <a:r>
              <a:rPr lang="ru-RU" dirty="0"/>
              <a:t>реакции внутри тканей человека</a:t>
            </a:r>
            <a:r>
              <a:rPr lang="en-US" dirty="0"/>
              <a:t>, </a:t>
            </a:r>
            <a:r>
              <a:rPr lang="ru-RU" dirty="0"/>
              <a:t>…)</a:t>
            </a:r>
          </a:p>
          <a:p>
            <a:pPr marL="0" indent="444500">
              <a:buNone/>
            </a:pPr>
            <a:r>
              <a:rPr lang="ru-RU" dirty="0"/>
              <a:t>Его можно определить в одном из видов</a:t>
            </a:r>
            <a:r>
              <a:rPr lang="en-US" dirty="0"/>
              <a:t>:</a:t>
            </a:r>
          </a:p>
          <a:p>
            <a:r>
              <a:rPr lang="ru-RU" dirty="0"/>
              <a:t>Референсный (наиболее распространённый)</a:t>
            </a:r>
          </a:p>
          <a:p>
            <a:r>
              <a:rPr lang="ru-RU" dirty="0"/>
              <a:t>Модульный</a:t>
            </a:r>
          </a:p>
          <a:p>
            <a:r>
              <a:rPr lang="ru-RU" dirty="0"/>
              <a:t>Пользовательский</a:t>
            </a:r>
            <a:endParaRPr lang="en-US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6678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6A9DA-DE70-BDA4-055C-AE3C39C6E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2A29BC-8AC0-201E-9FA0-3ACA9DABF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Референсный физический лист.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B3A8D04-4AA8-FEAB-55DE-87B362FBC8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015" y="1542992"/>
            <a:ext cx="11072551" cy="4351338"/>
          </a:xfrm>
        </p:spPr>
        <p:txBody>
          <a:bodyPr>
            <a:normAutofit/>
          </a:bodyPr>
          <a:lstStyle/>
          <a:p>
            <a:pPr marL="0" indent="266700" algn="just">
              <a:buNone/>
            </a:pPr>
            <a:r>
              <a:rPr lang="ru-RU" sz="2400" dirty="0"/>
              <a:t>В данном случае мы берём </a:t>
            </a:r>
            <a:r>
              <a:rPr lang="ru-RU" sz="2400" i="1" u="sng" dirty="0"/>
              <a:t>уже готовый</a:t>
            </a:r>
            <a:r>
              <a:rPr lang="ru-RU" sz="2400" dirty="0"/>
              <a:t> физический лист</a:t>
            </a:r>
            <a:r>
              <a:rPr lang="en-US" sz="2400" dirty="0"/>
              <a:t>, </a:t>
            </a:r>
            <a:r>
              <a:rPr lang="ru-RU" sz="2400" dirty="0"/>
              <a:t>который </a:t>
            </a:r>
            <a:r>
              <a:rPr lang="ru-RU" sz="2400" b="1" dirty="0">
                <a:solidFill>
                  <a:srgbClr val="FF0000"/>
                </a:solidFill>
              </a:rPr>
              <a:t>предназначен для типового физического процесса</a:t>
            </a:r>
            <a:r>
              <a:rPr lang="ru-RU" sz="2400" dirty="0"/>
              <a:t>. Это отражается в названии или соответствующей документации.</a:t>
            </a:r>
            <a:r>
              <a:rPr lang="en-US" sz="2400" dirty="0"/>
              <a:t> </a:t>
            </a:r>
            <a:r>
              <a:rPr lang="ru-RU" sz="2400" dirty="0"/>
              <a:t>Также его можно дополнить другими модулями</a:t>
            </a:r>
            <a:r>
              <a:rPr lang="en-US" sz="2400" dirty="0"/>
              <a:t> </a:t>
            </a:r>
            <a:r>
              <a:rPr lang="ru-RU" sz="2400" dirty="0"/>
              <a:t>или заменить одни модули другими</a:t>
            </a:r>
            <a:r>
              <a:rPr lang="en-US" sz="2400" dirty="0"/>
              <a:t> (</a:t>
            </a:r>
            <a:r>
              <a:rPr lang="ru-RU" sz="2400" dirty="0"/>
              <a:t>допустим</a:t>
            </a:r>
            <a:r>
              <a:rPr lang="en-US" sz="2400" dirty="0"/>
              <a:t>, </a:t>
            </a:r>
            <a:r>
              <a:rPr lang="ru-RU" sz="2400" dirty="0"/>
              <a:t>в </a:t>
            </a:r>
            <a:r>
              <a:rPr lang="en-US" sz="2400" dirty="0"/>
              <a:t>QBBC </a:t>
            </a:r>
            <a:r>
              <a:rPr lang="ru-RU" sz="2400" dirty="0"/>
              <a:t>можно сделать более точный расчёт неупр. рассеяния для нейтронов </a:t>
            </a:r>
            <a:r>
              <a:rPr lang="en-US" sz="2400" dirty="0">
                <a:solidFill>
                  <a:srgbClr val="00B0F0"/>
                </a:solidFill>
              </a:rPr>
              <a:t>ReplacePhysics()</a:t>
            </a:r>
            <a:r>
              <a:rPr lang="ru-RU" sz="2400" dirty="0"/>
              <a:t> </a:t>
            </a:r>
            <a:r>
              <a:rPr lang="en-US" sz="2400" dirty="0"/>
              <a:t>):</a:t>
            </a:r>
            <a:endParaRPr lang="ru-RU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36E57B-8DDA-D8FD-5E15-FE1635E3AE41}"/>
              </a:ext>
            </a:extLst>
          </p:cNvPr>
          <p:cNvSpPr txBox="1"/>
          <p:nvPr/>
        </p:nvSpPr>
        <p:spPr>
          <a:xfrm>
            <a:off x="1178209" y="3303162"/>
            <a:ext cx="101755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/>
              <a:t>Пример использования листа для низкоэнергетических взаимодействий с дополнительной информациях о радиоактивном распаде</a:t>
            </a:r>
            <a:r>
              <a:rPr lang="en-US" sz="2400" dirty="0"/>
              <a:t>:</a:t>
            </a:r>
            <a:endParaRPr lang="ru-RU" sz="28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381BAE0-3E22-AD68-0BCC-B1D8C72F00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25" y="4227228"/>
            <a:ext cx="9106930" cy="1735542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D5FBDC2-D5B4-3DEF-69D3-F428AFA18947}"/>
              </a:ext>
            </a:extLst>
          </p:cNvPr>
          <p:cNvSpPr txBox="1"/>
          <p:nvPr/>
        </p:nvSpPr>
        <p:spPr>
          <a:xfrm>
            <a:off x="4116153" y="6031210"/>
            <a:ext cx="42997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hlinkClick r:id="rId3"/>
              </a:rPr>
              <a:t>Полный список с пояснениями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9618371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D5E7C5-7F7A-B57E-FBF7-984FEF38D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Модульный физический лист.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9DF2CA7-FBC2-8DBC-2A59-F08B5C31E3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025" y="1459865"/>
            <a:ext cx="11853949" cy="4351338"/>
          </a:xfrm>
        </p:spPr>
        <p:txBody>
          <a:bodyPr>
            <a:normAutofit/>
          </a:bodyPr>
          <a:lstStyle/>
          <a:p>
            <a:pPr marL="0" indent="266700" algn="just">
              <a:buNone/>
            </a:pPr>
            <a:r>
              <a:rPr lang="ru-RU" sz="2400" dirty="0"/>
              <a:t>Наследуем от </a:t>
            </a:r>
            <a:r>
              <a:rPr lang="en-US" sz="2400" dirty="0">
                <a:solidFill>
                  <a:srgbClr val="00B0F0"/>
                </a:solidFill>
              </a:rPr>
              <a:t>G4VModularPhysicList()</a:t>
            </a:r>
            <a:r>
              <a:rPr lang="en-US" sz="2400" dirty="0"/>
              <a:t>.</a:t>
            </a:r>
            <a:r>
              <a:rPr lang="ru-RU" sz="2400" dirty="0"/>
              <a:t> Наш новый класс содержит конструктор</a:t>
            </a:r>
            <a:r>
              <a:rPr lang="en-US" sz="2400" dirty="0"/>
              <a:t>, </a:t>
            </a:r>
            <a:r>
              <a:rPr lang="ru-RU" sz="2400" dirty="0"/>
              <a:t>внутри которого мы регистрируем другие модули физики при помощи метода </a:t>
            </a:r>
            <a:r>
              <a:rPr lang="en-US" sz="2400" dirty="0" err="1">
                <a:solidFill>
                  <a:srgbClr val="00B0F0"/>
                </a:solidFill>
              </a:rPr>
              <a:t>RegisterPhysics</a:t>
            </a:r>
            <a:r>
              <a:rPr lang="en-US" sz="2400" dirty="0">
                <a:solidFill>
                  <a:srgbClr val="00B0F0"/>
                </a:solidFill>
              </a:rPr>
              <a:t>()</a:t>
            </a:r>
            <a:r>
              <a:rPr lang="ru-RU" sz="2400" dirty="0"/>
              <a:t>.</a:t>
            </a:r>
            <a:r>
              <a:rPr lang="en-US" sz="2400" dirty="0"/>
              <a:t> </a:t>
            </a:r>
            <a:r>
              <a:rPr lang="ru-RU" sz="2400" dirty="0"/>
              <a:t>Таким образом получится собрать </a:t>
            </a:r>
            <a:r>
              <a:rPr lang="ru-RU" sz="2400" dirty="0">
                <a:solidFill>
                  <a:srgbClr val="FF0000"/>
                </a:solidFill>
              </a:rPr>
              <a:t>свою физику</a:t>
            </a:r>
            <a:r>
              <a:rPr lang="ru-RU" sz="2400" dirty="0"/>
              <a:t>, используя только </a:t>
            </a:r>
            <a:r>
              <a:rPr lang="ru-RU" sz="2400" dirty="0">
                <a:solidFill>
                  <a:srgbClr val="FF0000"/>
                </a:solidFill>
              </a:rPr>
              <a:t>нужные процессы </a:t>
            </a:r>
            <a:r>
              <a:rPr lang="ru-RU" sz="2400" dirty="0"/>
              <a:t>(можно увеличить скорость работы).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A23CB78-EBD3-3361-7B0D-2D1F9E1B7F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1422" b="48435"/>
          <a:stretch/>
        </p:blipFill>
        <p:spPr>
          <a:xfrm>
            <a:off x="2700187" y="3077486"/>
            <a:ext cx="6791626" cy="3318357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3749604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D02B4-3282-CDC6-B81D-F16AC96EE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583590-DB85-66D7-BD85-4E12C629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Пользовательский физический лист.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2DCBE62-D97A-EF63-7B59-D0860B2C1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389" y="1391917"/>
            <a:ext cx="11161221" cy="5100958"/>
          </a:xfrm>
        </p:spPr>
        <p:txBody>
          <a:bodyPr>
            <a:noAutofit/>
          </a:bodyPr>
          <a:lstStyle/>
          <a:p>
            <a:pPr marL="0" indent="266700" algn="ctr">
              <a:buNone/>
            </a:pPr>
            <a:r>
              <a:rPr lang="ru-RU" sz="2500" i="1" u="sng" dirty="0"/>
              <a:t>Самая низкоуровневая настройка физики.</a:t>
            </a:r>
          </a:p>
          <a:p>
            <a:pPr marL="0" indent="266700">
              <a:buNone/>
            </a:pPr>
            <a:r>
              <a:rPr lang="ru-RU" sz="2500" dirty="0"/>
              <a:t>Пользовательский класс наследуется от </a:t>
            </a:r>
            <a:r>
              <a:rPr lang="en-US" sz="2500" b="1" dirty="0">
                <a:solidFill>
                  <a:srgbClr val="FF0000"/>
                </a:solidFill>
              </a:rPr>
              <a:t>pure-virtual G4ModularPhysicsList</a:t>
            </a:r>
            <a:r>
              <a:rPr lang="en-US" sz="2500" dirty="0"/>
              <a:t>. </a:t>
            </a:r>
            <a:r>
              <a:rPr lang="ru-RU" sz="2500" dirty="0"/>
              <a:t>Обязательными методами являются</a:t>
            </a:r>
            <a:r>
              <a:rPr lang="en-US" sz="2500" dirty="0"/>
              <a:t>:</a:t>
            </a:r>
          </a:p>
          <a:p>
            <a:r>
              <a:rPr lang="en-US" sz="2500" b="1" dirty="0" err="1">
                <a:solidFill>
                  <a:srgbClr val="00B0F0"/>
                </a:solidFill>
              </a:rPr>
              <a:t>ConstructParticle</a:t>
            </a:r>
            <a:r>
              <a:rPr lang="en-US" sz="2500" b="1" dirty="0">
                <a:solidFill>
                  <a:srgbClr val="00B0F0"/>
                </a:solidFill>
              </a:rPr>
              <a:t>()</a:t>
            </a:r>
            <a:r>
              <a:rPr lang="en-US" sz="2500" dirty="0"/>
              <a:t> – </a:t>
            </a:r>
            <a:r>
              <a:rPr lang="ru-RU" sz="2500" dirty="0"/>
              <a:t>здесь учитываются все частицы</a:t>
            </a:r>
            <a:r>
              <a:rPr lang="en-US" sz="2500" dirty="0"/>
              <a:t>,</a:t>
            </a:r>
            <a:r>
              <a:rPr lang="ru-RU" sz="2500" dirty="0"/>
              <a:t> которые будут регистрироваться в симуляции.</a:t>
            </a:r>
            <a:endParaRPr lang="en-US" sz="2500" dirty="0"/>
          </a:p>
          <a:p>
            <a:r>
              <a:rPr lang="en-US" sz="2500" b="1" dirty="0" err="1">
                <a:solidFill>
                  <a:srgbClr val="00B0F0"/>
                </a:solidFill>
              </a:rPr>
              <a:t>ConstructProcess</a:t>
            </a:r>
            <a:r>
              <a:rPr lang="en-US" sz="2500" b="1" dirty="0">
                <a:solidFill>
                  <a:srgbClr val="00B0F0"/>
                </a:solidFill>
              </a:rPr>
              <a:t>()</a:t>
            </a:r>
            <a:r>
              <a:rPr lang="ru-RU" sz="2500" dirty="0"/>
              <a:t> – определяются все процессы (пр. фотоэффект</a:t>
            </a:r>
            <a:r>
              <a:rPr lang="en-US" sz="2500" dirty="0"/>
              <a:t>, </a:t>
            </a:r>
            <a:r>
              <a:rPr lang="ru-RU" sz="2500" dirty="0"/>
              <a:t>комптоновское рассеяние)</a:t>
            </a:r>
            <a:r>
              <a:rPr lang="en-US" sz="2500" dirty="0"/>
              <a:t>, </a:t>
            </a:r>
            <a:r>
              <a:rPr lang="ru-RU" sz="2500" dirty="0"/>
              <a:t>которые будут происходить с нашими частицами.</a:t>
            </a:r>
          </a:p>
          <a:p>
            <a:pPr marL="0" indent="266700" algn="just">
              <a:buNone/>
            </a:pPr>
            <a:r>
              <a:rPr lang="ru-RU" sz="2500" b="1" dirty="0">
                <a:solidFill>
                  <a:srgbClr val="FF0000"/>
                </a:solidFill>
              </a:rPr>
              <a:t>Все</a:t>
            </a:r>
            <a:r>
              <a:rPr lang="ru-RU" sz="2500" dirty="0"/>
              <a:t> </a:t>
            </a:r>
            <a:r>
              <a:rPr lang="ru-RU" sz="2500" u="sng" dirty="0"/>
              <a:t>известные частицы</a:t>
            </a:r>
            <a:r>
              <a:rPr lang="en-US" sz="2500" dirty="0"/>
              <a:t>, </a:t>
            </a:r>
            <a:r>
              <a:rPr lang="ru-RU" sz="2500" dirty="0"/>
              <a:t>а также </a:t>
            </a:r>
            <a:r>
              <a:rPr lang="ru-RU" sz="2500" b="1" dirty="0">
                <a:solidFill>
                  <a:srgbClr val="FF0000"/>
                </a:solidFill>
              </a:rPr>
              <a:t>большинство</a:t>
            </a:r>
            <a:r>
              <a:rPr lang="ru-RU" sz="2500" dirty="0"/>
              <a:t> </a:t>
            </a:r>
            <a:r>
              <a:rPr lang="ru-RU" sz="2500" u="sng" dirty="0"/>
              <a:t>изученных процессов</a:t>
            </a:r>
            <a:r>
              <a:rPr lang="ru-RU" sz="2500" dirty="0"/>
              <a:t> уже определены в базе </a:t>
            </a:r>
            <a:r>
              <a:rPr lang="en-US" sz="2500" dirty="0"/>
              <a:t>Geant4. </a:t>
            </a:r>
            <a:r>
              <a:rPr lang="ru-RU" sz="2500" dirty="0"/>
              <a:t>Под определением процесса понимается учет </a:t>
            </a:r>
            <a:r>
              <a:rPr lang="ru-RU" sz="2500" b="1" dirty="0">
                <a:solidFill>
                  <a:srgbClr val="00B0F0"/>
                </a:solidFill>
              </a:rPr>
              <a:t>сечений</a:t>
            </a:r>
            <a:r>
              <a:rPr lang="ru-RU" sz="2500" dirty="0"/>
              <a:t> всех взаимодействий и </a:t>
            </a:r>
            <a:r>
              <a:rPr lang="ru-RU" sz="2500" dirty="0">
                <a:solidFill>
                  <a:srgbClr val="00B0F0"/>
                </a:solidFill>
              </a:rPr>
              <a:t>энергии</a:t>
            </a:r>
            <a:r>
              <a:rPr lang="ru-RU" sz="2500" dirty="0"/>
              <a:t>.</a:t>
            </a:r>
          </a:p>
          <a:p>
            <a:pPr marL="0" indent="266700" algn="ctr">
              <a:buNone/>
            </a:pPr>
            <a:r>
              <a:rPr lang="ru-RU" sz="2500" dirty="0">
                <a:solidFill>
                  <a:srgbClr val="FF0000"/>
                </a:solidFill>
              </a:rPr>
              <a:t>При необходимости можно полностью с нуля создать свою частицу или процесс</a:t>
            </a:r>
            <a:r>
              <a:rPr lang="en-US" sz="2500" dirty="0">
                <a:solidFill>
                  <a:srgbClr val="FF0000"/>
                </a:solidFill>
              </a:rPr>
              <a:t> !</a:t>
            </a:r>
            <a:endParaRPr lang="ru-RU" sz="25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165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28BCE-7573-CDA9-A0B7-BCB7EBC1D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D776C2-6F8A-B43B-EEF7-671BCCED1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Пользовательский физический лист.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9577D19-3453-1EF7-A41F-7C16470A29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4708" y="1516776"/>
            <a:ext cx="5842584" cy="4976099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6766715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AA2208-35B2-F8EF-A27B-E2D4A5204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Частицы в </a:t>
            </a:r>
            <a:r>
              <a:rPr lang="en-US"/>
              <a:t>Geant4</a:t>
            </a:r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8112971-919C-F139-1D1F-C16D1ED23A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6866"/>
            <a:ext cx="10515600" cy="4682053"/>
          </a:xfrm>
        </p:spPr>
        <p:txBody>
          <a:bodyPr>
            <a:normAutofit/>
          </a:bodyPr>
          <a:lstStyle/>
          <a:p>
            <a:pPr algn="just"/>
            <a:r>
              <a:rPr lang="ru-RU" sz="3200" dirty="0"/>
              <a:t>Элементарные частицы</a:t>
            </a:r>
            <a:r>
              <a:rPr lang="en-US" sz="3200" dirty="0"/>
              <a:t>, </a:t>
            </a:r>
            <a:r>
              <a:rPr lang="ru-RU" sz="3200" dirty="0"/>
              <a:t>переносчики фундаментальных взаимодействий.</a:t>
            </a:r>
          </a:p>
          <a:p>
            <a:pPr algn="just"/>
            <a:r>
              <a:rPr lang="ru-RU" sz="3200" dirty="0"/>
              <a:t>Оптические фотоны.</a:t>
            </a:r>
          </a:p>
          <a:p>
            <a:pPr algn="just"/>
            <a:r>
              <a:rPr lang="en-US" sz="3200" dirty="0"/>
              <a:t>Geantino</a:t>
            </a:r>
            <a:r>
              <a:rPr lang="ru-RU" sz="3200" dirty="0"/>
              <a:t> </a:t>
            </a:r>
            <a:r>
              <a:rPr lang="ru-RU" dirty="0"/>
              <a:t>(не взаимодействует с веществом</a:t>
            </a:r>
            <a:r>
              <a:rPr lang="en-US" dirty="0"/>
              <a:t>, </a:t>
            </a:r>
            <a:r>
              <a:rPr lang="ru-RU" dirty="0"/>
              <a:t>не имеет массы и спина</a:t>
            </a:r>
            <a:r>
              <a:rPr lang="en-US" dirty="0"/>
              <a:t>; </a:t>
            </a:r>
            <a:r>
              <a:rPr lang="ru-RU" dirty="0"/>
              <a:t>заряженная версия отклоняется в полях без потери энергии).</a:t>
            </a:r>
          </a:p>
          <a:p>
            <a:pPr algn="just"/>
            <a:r>
              <a:rPr lang="ru-RU" sz="3200" dirty="0"/>
              <a:t>Короткоживущие частицы (не перемещаются).</a:t>
            </a:r>
          </a:p>
          <a:p>
            <a:pPr algn="just"/>
            <a:r>
              <a:rPr lang="ru-RU" sz="3200" dirty="0"/>
              <a:t>Ионы разных форм (</a:t>
            </a:r>
            <a:r>
              <a:rPr lang="en-US" sz="3200" dirty="0"/>
              <a:t>G4Ions</a:t>
            </a:r>
            <a:r>
              <a:rPr lang="ru-RU" sz="32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40193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856119-7F7C-9757-A05D-54CF1EAF4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Список основных частиц.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FBB26C7-5C19-F951-4A00-E98ABB49A2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1350" y="1408153"/>
            <a:ext cx="5829300" cy="5229225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9428936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6E059A-CE22-4096-BB09-7FC365EDF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Команды для </a:t>
            </a:r>
            <a:r>
              <a:rPr lang="en-US" dirty="0" err="1"/>
              <a:t>UIManager</a:t>
            </a:r>
            <a:r>
              <a:rPr lang="ru-RU" dirty="0"/>
              <a:t>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2FEE5FB-B127-D695-6E28-E8012BAD10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4" y="1690688"/>
            <a:ext cx="4240871" cy="2920061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9D1025CD-FB23-DDF8-2D9E-FCC759FFA3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0450" y="1569734"/>
            <a:ext cx="6021896" cy="4579574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9189E1B-42E3-8BF5-3F71-5400C07D5B75}"/>
              </a:ext>
            </a:extLst>
          </p:cNvPr>
          <p:cNvSpPr txBox="1"/>
          <p:nvPr/>
        </p:nvSpPr>
        <p:spPr>
          <a:xfrm>
            <a:off x="134112" y="4813369"/>
            <a:ext cx="5547360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ru-RU" sz="2000" dirty="0"/>
              <a:t>Команды можно записывать в окне симуляции, либо использовать в </a:t>
            </a:r>
            <a:r>
              <a:rPr lang="en-US" sz="2000" dirty="0"/>
              <a:t>.mac </a:t>
            </a:r>
            <a:r>
              <a:rPr lang="ru-RU" sz="2000" dirty="0"/>
              <a:t>файлах.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140CC7-B977-FC07-62ED-B2209B47B5DC}"/>
              </a:ext>
            </a:extLst>
          </p:cNvPr>
          <p:cNvSpPr txBox="1"/>
          <p:nvPr/>
        </p:nvSpPr>
        <p:spPr>
          <a:xfrm>
            <a:off x="134112" y="5723875"/>
            <a:ext cx="5547360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ru-RU" sz="2000" dirty="0"/>
              <a:t>Введя</a:t>
            </a:r>
            <a:r>
              <a:rPr lang="en-US" sz="2000" dirty="0"/>
              <a:t> </a:t>
            </a:r>
            <a:r>
              <a:rPr lang="en-US" sz="2000" dirty="0">
                <a:solidFill>
                  <a:srgbClr val="00B0F0"/>
                </a:solidFill>
              </a:rPr>
              <a:t>/control/manual</a:t>
            </a:r>
            <a:r>
              <a:rPr lang="en-US" sz="2000" dirty="0"/>
              <a:t> </a:t>
            </a:r>
            <a:r>
              <a:rPr lang="ru-RU" sz="2000" dirty="0"/>
              <a:t>можно получить список всех команд для </a:t>
            </a:r>
            <a:r>
              <a:rPr lang="en-US" sz="2000" dirty="0" err="1"/>
              <a:t>UImanager</a:t>
            </a:r>
            <a:r>
              <a:rPr lang="en-US" sz="2000" dirty="0"/>
              <a:t>.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2601577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B19FC1-277F-ACDC-37F3-F8B6DFAD6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G4VUserPrimaryGeneratorAction.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E73B60-681B-CD95-0078-CFF9E8F6D8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297" y="1341113"/>
            <a:ext cx="11196651" cy="4351338"/>
          </a:xfrm>
        </p:spPr>
        <p:txBody>
          <a:bodyPr>
            <a:normAutofit/>
          </a:bodyPr>
          <a:lstStyle/>
          <a:p>
            <a:pPr marL="82550" indent="273050" algn="just"/>
            <a:r>
              <a:rPr lang="ru-RU" sz="2600" dirty="0"/>
              <a:t>Является базовым классом пользовательского генератора первичных событий (первичных частиц).</a:t>
            </a:r>
            <a:r>
              <a:rPr lang="en-US" sz="2600" dirty="0"/>
              <a:t> </a:t>
            </a:r>
            <a:r>
              <a:rPr lang="ru-RU" sz="2600" dirty="0"/>
              <a:t>Чаще всего реализуется в </a:t>
            </a:r>
            <a:r>
              <a:rPr lang="en-US" sz="2600" b="1" dirty="0" err="1">
                <a:solidFill>
                  <a:srgbClr val="00B0F0"/>
                </a:solidFill>
              </a:rPr>
              <a:t>PrimaryGenerator.hh</a:t>
            </a:r>
            <a:r>
              <a:rPr lang="en-US" sz="2600" b="1" dirty="0">
                <a:solidFill>
                  <a:srgbClr val="00B0F0"/>
                </a:solidFill>
              </a:rPr>
              <a:t> </a:t>
            </a:r>
            <a:endParaRPr lang="ru-RU" sz="2600" b="1" dirty="0">
              <a:solidFill>
                <a:srgbClr val="00B0F0"/>
              </a:solidFill>
            </a:endParaRPr>
          </a:p>
          <a:p>
            <a:pPr marL="82550" indent="273050" algn="just"/>
            <a:r>
              <a:rPr lang="ru-RU" sz="2600" dirty="0"/>
              <a:t>Он определяет способ генерации</a:t>
            </a:r>
            <a:r>
              <a:rPr lang="en-US" sz="2600" dirty="0"/>
              <a:t>:</a:t>
            </a:r>
            <a:r>
              <a:rPr lang="ru-RU" sz="2600" dirty="0"/>
              <a:t> </a:t>
            </a:r>
            <a:r>
              <a:rPr lang="en-US" sz="2600" b="1" dirty="0">
                <a:solidFill>
                  <a:srgbClr val="00B0F0"/>
                </a:solidFill>
              </a:rPr>
              <a:t>G4ParticleGun</a:t>
            </a:r>
            <a:r>
              <a:rPr lang="en-US" sz="2600" dirty="0"/>
              <a:t>, </a:t>
            </a:r>
            <a:r>
              <a:rPr lang="en-US" sz="2600" b="1" dirty="0">
                <a:solidFill>
                  <a:srgbClr val="00B0F0"/>
                </a:solidFill>
              </a:rPr>
              <a:t>G4HEPEvtInterface</a:t>
            </a:r>
            <a:r>
              <a:rPr lang="en-US" sz="2600" dirty="0"/>
              <a:t>, </a:t>
            </a:r>
            <a:r>
              <a:rPr lang="en-US" sz="2600" b="1" dirty="0">
                <a:solidFill>
                  <a:srgbClr val="00B0F0"/>
                </a:solidFill>
              </a:rPr>
              <a:t>G4GeneralParticleSource</a:t>
            </a:r>
            <a:r>
              <a:rPr lang="en-US" sz="2600" dirty="0"/>
              <a:t>.</a:t>
            </a:r>
            <a:endParaRPr lang="ru-RU" sz="26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F73544F-4A93-3F5D-12B0-FBF5296A4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5312" y="3429000"/>
            <a:ext cx="7923415" cy="3180146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230881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059045-3774-E659-3F88-E4C0A66E0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G4ParticleGun.</a:t>
            </a:r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D381F3-0DC7-71EF-ED27-499BA96E7E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0425" y="1374362"/>
            <a:ext cx="11563399" cy="4351338"/>
          </a:xfrm>
        </p:spPr>
        <p:txBody>
          <a:bodyPr/>
          <a:lstStyle/>
          <a:p>
            <a:pPr algn="just"/>
            <a:r>
              <a:rPr lang="ru-RU" dirty="0"/>
              <a:t>Представляет собой настраиваемый источник частиц (ассоциация с пушкой частиц). Благодаря основным методам можно настроить разные параметры генерации (вид частиц</a:t>
            </a:r>
            <a:r>
              <a:rPr lang="en-US" dirty="0"/>
              <a:t>, </a:t>
            </a:r>
            <a:r>
              <a:rPr lang="ru-RU" dirty="0"/>
              <a:t>энергии</a:t>
            </a:r>
            <a:r>
              <a:rPr lang="en-US" dirty="0"/>
              <a:t>, </a:t>
            </a:r>
            <a:r>
              <a:rPr lang="ru-RU" dirty="0"/>
              <a:t>направление и </a:t>
            </a:r>
            <a:r>
              <a:rPr lang="ru-RU" dirty="0" err="1"/>
              <a:t>тд</a:t>
            </a:r>
            <a:r>
              <a:rPr lang="ru-RU" dirty="0"/>
              <a:t>.)</a:t>
            </a:r>
            <a:endParaRPr lang="en-US" dirty="0"/>
          </a:p>
          <a:p>
            <a:pPr marL="0" indent="450850" algn="ctr">
              <a:buNone/>
            </a:pPr>
            <a:r>
              <a:rPr lang="ru-RU" dirty="0"/>
              <a:t>Основные методы</a:t>
            </a:r>
            <a:r>
              <a:rPr lang="en-US" dirty="0"/>
              <a:t>:</a:t>
            </a:r>
          </a:p>
          <a:p>
            <a:pPr marL="0" indent="450850" algn="ctr">
              <a:buNone/>
            </a:pP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52B4E9D-B3BF-D4E7-F918-A5F33AA7A2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364" y="3571195"/>
            <a:ext cx="6335271" cy="2154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4854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C5193D-3321-6962-455A-3C683A3B8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</a:t>
            </a:r>
            <a:r>
              <a:rPr lang="en-US" dirty="0" err="1"/>
              <a:t>ParticleGun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AEB5837-064A-44CC-A439-410A320A6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788" y="1453182"/>
            <a:ext cx="5873090" cy="5256618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099EF85-3607-45E1-D454-086E9D9A3D7F}"/>
              </a:ext>
            </a:extLst>
          </p:cNvPr>
          <p:cNvSpPr txBox="1"/>
          <p:nvPr/>
        </p:nvSpPr>
        <p:spPr>
          <a:xfrm>
            <a:off x="213756" y="2118065"/>
            <a:ext cx="5462649" cy="32778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2300" dirty="0"/>
              <a:t>	</a:t>
            </a:r>
            <a:r>
              <a:rPr lang="ru-RU" sz="2300" dirty="0"/>
              <a:t>В коде происходит создание и настройка </a:t>
            </a:r>
            <a:r>
              <a:rPr lang="en-US" sz="2300" dirty="0" err="1"/>
              <a:t>ParticleGun</a:t>
            </a:r>
            <a:r>
              <a:rPr lang="en-US" sz="2300" dirty="0"/>
              <a:t>: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300" dirty="0"/>
              <a:t>Устанавливается положение точки генерации частиц.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300" dirty="0"/>
              <a:t>Настраиваем направление генерации.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300" dirty="0"/>
              <a:t>Выбираем и создаём тип частицы.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300" dirty="0"/>
              <a:t>Запускаем стек генерации и кладём в него указатель на </a:t>
            </a:r>
            <a:r>
              <a:rPr lang="en-US" sz="2300" dirty="0"/>
              <a:t>Event.</a:t>
            </a:r>
            <a:endParaRPr lang="ru-RU" sz="2300" dirty="0"/>
          </a:p>
        </p:txBody>
      </p:sp>
    </p:spTree>
    <p:extLst>
      <p:ext uri="{BB962C8B-B14F-4D97-AF65-F5344CB8AC3E}">
        <p14:creationId xmlns:p14="http://schemas.microsoft.com/office/powerpoint/2010/main" val="21926629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054E45-AF1B-87F7-EA01-592362240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Задание телесного угла</a:t>
            </a:r>
            <a:r>
              <a:rPr lang="en-US" dirty="0"/>
              <a:t>.</a:t>
            </a:r>
            <a:endParaRPr lang="ru-RU" dirty="0"/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66B83F95-0A69-A022-3E74-55A54FB567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4246" y="1981303"/>
            <a:ext cx="5752934" cy="2752270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156BFA3-33F9-D652-EFC3-4AA2DB73497A}"/>
              </a:ext>
            </a:extLst>
          </p:cNvPr>
          <p:cNvSpPr txBox="1"/>
          <p:nvPr/>
        </p:nvSpPr>
        <p:spPr>
          <a:xfrm>
            <a:off x="6424654" y="1758147"/>
            <a:ext cx="5613621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50850" algn="just">
              <a:buFont typeface="Arial" panose="020B0604020202020204" pitchFamily="34" charset="0"/>
              <a:buChar char="•"/>
            </a:pPr>
            <a:r>
              <a:rPr lang="ru-RU" sz="2400" dirty="0"/>
              <a:t>Одним из важнейших частных случаев распространения частиц является изотропное </a:t>
            </a:r>
            <a:r>
              <a:rPr lang="ru-RU" sz="2400" b="1" dirty="0">
                <a:solidFill>
                  <a:srgbClr val="00B0F0"/>
                </a:solidFill>
              </a:rPr>
              <a:t>распределение внутри конуса</a:t>
            </a:r>
            <a:r>
              <a:rPr lang="ru-RU" sz="2400" dirty="0"/>
              <a:t> (телесный угол).</a:t>
            </a:r>
          </a:p>
          <a:p>
            <a:pPr indent="450850" algn="just">
              <a:buFont typeface="Arial" panose="020B0604020202020204" pitchFamily="34" charset="0"/>
              <a:buChar char="•"/>
            </a:pPr>
            <a:r>
              <a:rPr lang="ru-RU" sz="2400" dirty="0"/>
              <a:t>Частицы могут вылетать в любом направлении по периферии конуса</a:t>
            </a:r>
            <a:r>
              <a:rPr lang="en-US" sz="2400" dirty="0"/>
              <a:t>, </a:t>
            </a:r>
            <a:r>
              <a:rPr lang="ru-RU" sz="2400" dirty="0"/>
              <a:t>а также под углом раствора внутренних конусов.</a:t>
            </a:r>
          </a:p>
        </p:txBody>
      </p:sp>
    </p:spTree>
    <p:extLst>
      <p:ext uri="{BB962C8B-B14F-4D97-AF65-F5344CB8AC3E}">
        <p14:creationId xmlns:p14="http://schemas.microsoft.com/office/powerpoint/2010/main" val="40380085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5405C23-F308-E2D1-80E4-5C9B5D86A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Пример реализации</a:t>
            </a:r>
            <a:r>
              <a:rPr lang="en-US"/>
              <a:t>.</a:t>
            </a:r>
            <a:endParaRPr lang="ru-RU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F6A93790-F943-68BE-7F4E-409BD669FD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56533" y="2258733"/>
            <a:ext cx="6278933" cy="2340534"/>
          </a:xfrm>
          <a:ln>
            <a:solidFill>
              <a:srgbClr val="FF0000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51920CB-54BD-8B45-37CB-CD90AFD38329}"/>
                  </a:ext>
                </a:extLst>
              </p:cNvPr>
              <p:cNvSpPr txBox="1"/>
              <p:nvPr/>
            </p:nvSpPr>
            <p:spPr>
              <a:xfrm>
                <a:off x="2688969" y="4739942"/>
                <a:ext cx="2345332" cy="30777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FF0000"/>
                </a:solidFill>
              </a:ln>
            </p:spPr>
            <p:txBody>
              <a:bodyPr wrap="square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400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400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dX</m:t>
                          </m:r>
                        </m:e>
                        <m:sup>
                          <m:r>
                            <a:rPr lang="en-US" sz="1400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400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sSup>
                        <m:sSupPr>
                          <m:ctrlPr>
                            <a:rPr lang="ru-RU" sz="1400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400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dY</m:t>
                          </m:r>
                        </m:e>
                        <m:sup>
                          <m:r>
                            <a:rPr lang="en-US" sz="1400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400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sSup>
                        <m:sSupPr>
                          <m:ctrlPr>
                            <a:rPr lang="ru-RU" sz="1400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400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dZ</m:t>
                          </m:r>
                        </m:e>
                        <m:sup>
                          <m:r>
                            <a:rPr lang="en-US" sz="1400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sz="1400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 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</m:t>
                      </m:r>
                      <m:r>
                        <a:rPr lang="ru-RU" sz="140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</m:oMath>
                  </m:oMathPara>
                </a14:m>
                <a:endParaRPr lang="ru-RU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51920CB-54BD-8B45-37CB-CD90AFD383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8969" y="4739942"/>
                <a:ext cx="2345332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F1A663D0-1930-C1FD-7595-0381903D260D}"/>
              </a:ext>
            </a:extLst>
          </p:cNvPr>
          <p:cNvSpPr txBox="1"/>
          <p:nvPr/>
        </p:nvSpPr>
        <p:spPr>
          <a:xfrm>
            <a:off x="5034301" y="4709164"/>
            <a:ext cx="44417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–</a:t>
            </a:r>
            <a:r>
              <a:rPr lang="ru-RU"/>
              <a:t> Условие нормировки вектора импульса</a:t>
            </a:r>
          </a:p>
        </p:txBody>
      </p:sp>
    </p:spTree>
    <p:extLst>
      <p:ext uri="{BB962C8B-B14F-4D97-AF65-F5344CB8AC3E}">
        <p14:creationId xmlns:p14="http://schemas.microsoft.com/office/powerpoint/2010/main" val="31210901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3F55C-D8F7-5FF2-7141-3A8DCF038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F3FB57-16E3-D51A-BAE9-4D767EEC0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реализации</a:t>
            </a:r>
            <a:r>
              <a:rPr lang="en-US" dirty="0"/>
              <a:t>.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7510EF1-7FD6-7CFF-D112-F4E7399193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026" y="1425471"/>
            <a:ext cx="6238875" cy="4695825"/>
          </a:xfrm>
          <a:prstGeom prst="rect">
            <a:avLst/>
          </a:prstGeom>
          <a:ln>
            <a:solidFill>
              <a:srgbClr val="C00000"/>
            </a:solidFill>
          </a:ln>
        </p:spPr>
      </p:pic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837CC5F-6978-2B2F-5B54-2DA50FB254C6}"/>
              </a:ext>
            </a:extLst>
          </p:cNvPr>
          <p:cNvSpPr/>
          <p:nvPr/>
        </p:nvSpPr>
        <p:spPr>
          <a:xfrm>
            <a:off x="7457704" y="1864426"/>
            <a:ext cx="3158837" cy="1056904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.d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BE2FEC-31C7-DFE6-973B-1A7F57F097A1}"/>
              </a:ext>
            </a:extLst>
          </p:cNvPr>
          <p:cNvSpPr txBox="1"/>
          <p:nvPr/>
        </p:nvSpPr>
        <p:spPr>
          <a:xfrm>
            <a:off x="7609308" y="2131268"/>
            <a:ext cx="30072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/run/beamOn 100</a:t>
            </a:r>
            <a:endParaRPr lang="ru-RU" sz="2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0D4D3E-A918-D780-7099-504115052499}"/>
              </a:ext>
            </a:extLst>
          </p:cNvPr>
          <p:cNvSpPr txBox="1"/>
          <p:nvPr/>
        </p:nvSpPr>
        <p:spPr>
          <a:xfrm>
            <a:off x="8241475" y="3527451"/>
            <a:ext cx="3788229" cy="16126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ru-RU" sz="2400" dirty="0"/>
              <a:t>Видно, что 100 частиц равномерно распределяются внутри конуса.</a:t>
            </a:r>
          </a:p>
        </p:txBody>
      </p:sp>
    </p:spTree>
    <p:extLst>
      <p:ext uri="{BB962C8B-B14F-4D97-AF65-F5344CB8AC3E}">
        <p14:creationId xmlns:p14="http://schemas.microsoft.com/office/powerpoint/2010/main" val="123015127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3255</TotalTime>
  <Words>667</Words>
  <Application>Microsoft Office PowerPoint</Application>
  <PresentationFormat>Широкоэкранный</PresentationFormat>
  <Paragraphs>63</Paragraphs>
  <Slides>18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4" baseType="lpstr">
      <vt:lpstr>Arial</vt:lpstr>
      <vt:lpstr>Cambria Math</vt:lpstr>
      <vt:lpstr>Franklin Gothic Book</vt:lpstr>
      <vt:lpstr>Franklin Gothic Medium</vt:lpstr>
      <vt:lpstr>Times New Roman</vt:lpstr>
      <vt:lpstr>Тема Office</vt:lpstr>
      <vt:lpstr>Создание частиц.</vt:lpstr>
      <vt:lpstr>Макросы для написания программ.</vt:lpstr>
      <vt:lpstr>Макросы для написания программ.</vt:lpstr>
      <vt:lpstr>Пример vis.mac</vt:lpstr>
      <vt:lpstr>Физический лист.</vt:lpstr>
      <vt:lpstr>Референсный физический лист.</vt:lpstr>
      <vt:lpstr>Модульный физический лист.</vt:lpstr>
      <vt:lpstr>Пользовательский физический лист.</vt:lpstr>
      <vt:lpstr>Пользовательский физический лист.</vt:lpstr>
      <vt:lpstr>Частицы в Geant4</vt:lpstr>
      <vt:lpstr>Список основных частиц.</vt:lpstr>
      <vt:lpstr>Команды для UIManager.</vt:lpstr>
      <vt:lpstr>G4VUserPrimaryGeneratorAction.</vt:lpstr>
      <vt:lpstr>G4ParticleGun.</vt:lpstr>
      <vt:lpstr>Пример ParticleGun</vt:lpstr>
      <vt:lpstr>Задание телесного угла.</vt:lpstr>
      <vt:lpstr>Пример реализации.</vt:lpstr>
      <vt:lpstr>Пример реализации.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s4h0</dc:creator>
  <cp:lastModifiedBy>s4h0</cp:lastModifiedBy>
  <cp:revision>41</cp:revision>
  <dcterms:created xsi:type="dcterms:W3CDTF">2026-08-03T21:36:50Z</dcterms:created>
  <dcterms:modified xsi:type="dcterms:W3CDTF">2026-10-23T21:07:35Z</dcterms:modified>
</cp:coreProperties>
</file>