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8" r:id="rId4"/>
    <p:sldId id="260" r:id="rId5"/>
    <p:sldId id="261" r:id="rId6"/>
    <p:sldId id="259" r:id="rId7"/>
    <p:sldId id="275" r:id="rId8"/>
    <p:sldId id="257" r:id="rId9"/>
    <p:sldId id="262" r:id="rId10"/>
    <p:sldId id="263" r:id="rId11"/>
    <p:sldId id="264" r:id="rId12"/>
    <p:sldId id="265" r:id="rId13"/>
    <p:sldId id="266" r:id="rId14"/>
    <p:sldId id="26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D4729-6CBD-4A05-BB20-429A2B76F31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4A967-746F-4B8C-A95C-EBF43F5DA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156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4A967-746F-4B8C-A95C-EBF43F5DAA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162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F0930-88E2-262D-1A05-D5C59DAE8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FD4108-FAC2-A0B3-ED74-FF0E47AFD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BEE79E-E20B-0F6C-9F08-615532500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3068BE-D675-B4B4-C260-2B1C3C33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6A6638-0DD6-51BC-479A-F6DE7287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838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A88BE-10FA-5F36-C8F3-C3240EDC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A5704A-1495-62C9-5FB9-37FDAB794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149671-0D44-0582-8151-920A5CD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EC3C61-7EFB-E312-7AA3-AEB21BE4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87A59B-645D-DEE4-C934-2C6E84EE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00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07B7C-4C6C-8DB9-77F8-4F40939AE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1ADBC1-CFDA-9CDE-B56F-DB212C524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ED334D-C80F-1554-1321-FAF45A7B8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DD3BCA-F9AE-4141-4075-2502FE2D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316D9B-122C-A8F8-3FB5-516312DC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72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A22EA9-4F2A-37D4-FD8A-513FD74D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7FA460-D80D-D7D2-437C-7FBD54180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23DC82-7B24-D42B-21BB-B54FB3B07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ED6D9D-768C-EE01-281D-6FAAF6DE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0CF6DC-6271-229F-1BF4-DDC4A9044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802CB6-3C00-AB5B-75D8-E40B26F0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073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AA5EC-DB1E-7035-7BD0-51840C46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778D12-F3E9-CF36-5318-38886CE5E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5A7127-30D3-6735-040B-95FF7582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6CDD588-2DA4-08F8-5FA8-B44515A1F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ADB498E-E8FA-7973-E45A-E956452B8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4259D6D-2452-4FD5-C60D-DD1661D9D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69D675-5EE9-3EDD-4D5A-7AD0A5158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9ED63E-12D9-845A-1027-6D472B6B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49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93C474-F50A-F54D-D76B-6561A295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12842F-F625-F1A0-711F-751D8B708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6C7443-97AE-A288-DEBB-679600A0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669468C-3EBE-EF04-9008-BB6D5BBE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537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3C830BE-5BB3-D7A1-7C1C-09CC3CEBF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BD65921-8B51-25A2-9C50-D1A1F0AF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4FC4BD-19B5-12E0-C7CD-C8A06846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52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1D20E-C027-4031-D283-307426C5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9A1C8E-7D70-4674-F0FA-8745DA0B1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BA1093-DE33-979C-ACF7-51EE344E2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C0D7C4-9532-FC7C-DB10-DD1808C7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39ECF2-FF6A-59E3-F7DC-CE6BACCE9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87926B-8899-4A4C-7AD0-B4C66EA9F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394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10545-8917-A58A-53A2-4F4221477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EEE0535-D568-C0FB-63EE-C1BF8167F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3FE185-1454-A7E9-4C09-DED7C2D47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D93D31-C421-D2B5-873D-340A1414C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0CA1E8-F524-32A9-F932-E2A05301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73D99A-0A0F-A8EB-79C6-15B95592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56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2176D-B364-0651-5EDC-DA04BA00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8703B57-915D-3477-B310-B29F935D8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B0E750-B568-CDD7-DF21-C2482E984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EE4C57-139D-811D-A6EB-1D168182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365E8D-F4D8-D23B-852F-81F47532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6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05EAAD1-6604-8AB1-37FC-4DD0CFF98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2F6E94-03AD-B76C-F18D-AF120DA8A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E883E2-1193-6B52-ADD6-B5BCEB719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58742C-AA9D-46AB-75CB-9E604457F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E1FE4B-F636-ACB2-B321-4E4E8EB6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071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B8EB-E428-0C40-CA42-8ADD55D6F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6D5B3C-DB68-31C7-8A44-FC009462B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7C0A7D-9229-E711-AA38-94CC35E45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8A90FF-C1CF-4F68-8C6F-5630CF1E2DA8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090B80-E931-1371-BA5D-72DE3644C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4EE091-0DA1-BD2A-C00F-29E5656BE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AA9A8-74EB-47A0-843B-B39C1A9E9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145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FE223-0543-5211-5C39-0ED2A8E0C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9929"/>
            <a:ext cx="9144000" cy="2387600"/>
          </a:xfrm>
        </p:spPr>
        <p:txBody>
          <a:bodyPr/>
          <a:lstStyle/>
          <a:p>
            <a:r>
              <a:rPr lang="ru-RU">
                <a:latin typeface="+mn-lt"/>
              </a:rPr>
              <a:t>Геометрия.</a:t>
            </a:r>
          </a:p>
        </p:txBody>
      </p:sp>
    </p:spTree>
    <p:extLst>
      <p:ext uri="{BB962C8B-B14F-4D97-AF65-F5344CB8AC3E}">
        <p14:creationId xmlns:p14="http://schemas.microsoft.com/office/powerpoint/2010/main" val="2704525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BFF99-3973-E56F-6E6A-6204F0C6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95AF4-A311-2089-DCDC-D87A51E0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G4RunManager (Single mode)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9E8A0-6370-548A-84FB-A1070C76EBE6}"/>
              </a:ext>
            </a:extLst>
          </p:cNvPr>
          <p:cNvSpPr txBox="1"/>
          <p:nvPr/>
        </p:nvSpPr>
        <p:spPr>
          <a:xfrm>
            <a:off x="242276" y="1391137"/>
            <a:ext cx="1170744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dirty="0"/>
              <a:t>	</a:t>
            </a:r>
            <a:r>
              <a:rPr lang="ru-RU" sz="2600" dirty="0"/>
              <a:t>Основной класс для запуска всей симуляции в </a:t>
            </a:r>
            <a:r>
              <a:rPr lang="en-US" sz="2600" dirty="0"/>
              <a:t>Geant4. </a:t>
            </a:r>
            <a:r>
              <a:rPr lang="ru-RU" sz="2600" dirty="0"/>
              <a:t>Для использования создаётся указатель класса, который руководит всеми процессами запуска</a:t>
            </a:r>
            <a:r>
              <a:rPr lang="en-US" sz="2600" dirty="0"/>
              <a:t> (</a:t>
            </a:r>
            <a:r>
              <a:rPr lang="ru-RU" sz="2600" dirty="0"/>
              <a:t>создание частиц, рисование геометрии и </a:t>
            </a:r>
            <a:r>
              <a:rPr lang="ru-RU" sz="2600" dirty="0" err="1"/>
              <a:t>тд</a:t>
            </a:r>
            <a:r>
              <a:rPr lang="ru-RU" sz="2600" dirty="0"/>
              <a:t>.</a:t>
            </a:r>
            <a:r>
              <a:rPr lang="en-US" sz="2600" dirty="0"/>
              <a:t>):</a:t>
            </a:r>
            <a:endParaRPr lang="ru-RU" sz="2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44211D-E0FA-9A97-8602-A8541D042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501" y="2845525"/>
            <a:ext cx="3651350" cy="138499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1D225B-D706-D988-1EDD-C856734AF3C3}"/>
              </a:ext>
            </a:extLst>
          </p:cNvPr>
          <p:cNvSpPr txBox="1"/>
          <p:nvPr/>
        </p:nvSpPr>
        <p:spPr>
          <a:xfrm>
            <a:off x="160214" y="4509476"/>
            <a:ext cx="1187157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dirty="0"/>
              <a:t>Основные методы</a:t>
            </a:r>
            <a:r>
              <a:rPr lang="en-US" sz="2600" dirty="0"/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B0F0"/>
                </a:solidFill>
              </a:rPr>
              <a:t>SetUserInitialization() </a:t>
            </a:r>
            <a:r>
              <a:rPr lang="en-US" sz="2600" dirty="0"/>
              <a:t>– </a:t>
            </a:r>
            <a:r>
              <a:rPr lang="ru-RU" sz="2600" dirty="0"/>
              <a:t>добавляет в систему компонент моделирования (физику, геометрию и </a:t>
            </a:r>
            <a:r>
              <a:rPr lang="ru-RU" sz="2600" dirty="0" err="1"/>
              <a:t>тд</a:t>
            </a:r>
            <a:r>
              <a:rPr lang="ru-RU" sz="2600" dirty="0"/>
              <a:t>.)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B0F0"/>
                </a:solidFill>
              </a:rPr>
              <a:t>Initialize() </a:t>
            </a:r>
            <a:r>
              <a:rPr lang="en-US" sz="2600" dirty="0"/>
              <a:t>– </a:t>
            </a:r>
            <a:r>
              <a:rPr lang="ru-RU" sz="2600" dirty="0"/>
              <a:t>после указания всех компонентов запускает ядро.</a:t>
            </a:r>
          </a:p>
        </p:txBody>
      </p:sp>
    </p:spTree>
    <p:extLst>
      <p:ext uri="{BB962C8B-B14F-4D97-AF65-F5344CB8AC3E}">
        <p14:creationId xmlns:p14="http://schemas.microsoft.com/office/powerpoint/2010/main" val="672811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FE85D3-BC89-6302-D1ED-5050ACCC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Наследование.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8F6F75-85FB-26F6-8E4E-3B77ED8F6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322" y="14328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/>
              <a:t>Наследование является одним из базовых принципов ООП.</a:t>
            </a:r>
          </a:p>
          <a:p>
            <a:pPr marL="0" indent="0">
              <a:buNone/>
            </a:pPr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351E3F-11D5-C14F-9BA3-13B5A7ABC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91561"/>
            <a:ext cx="4775550" cy="153637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BFD1D-317E-BCC2-D975-E189E09EDAB7}"/>
              </a:ext>
            </a:extLst>
          </p:cNvPr>
          <p:cNvSpPr txBox="1"/>
          <p:nvPr/>
        </p:nvSpPr>
        <p:spPr>
          <a:xfrm>
            <a:off x="5860540" y="1889681"/>
            <a:ext cx="571790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i="1" u="sng"/>
              <a:t>Главная роль наследования</a:t>
            </a:r>
            <a:r>
              <a:rPr lang="en-US" sz="2800" i="1"/>
              <a:t>: </a:t>
            </a:r>
            <a:endParaRPr lang="ru-RU" sz="2800" i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/>
              <a:t>Оно помогает избежать многочисленного копирования кода для выражения одних и тех же действий.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/>
              <a:t>Позволяет показывать логику производных классов</a:t>
            </a:r>
            <a:r>
              <a:rPr lang="en-US" sz="2800"/>
              <a:t>, </a:t>
            </a:r>
            <a:r>
              <a:rPr lang="ru-RU" sz="2800"/>
              <a:t>являющимися множеством каких-либо сущностей (люди</a:t>
            </a:r>
            <a:r>
              <a:rPr lang="en-US" sz="2800"/>
              <a:t>, </a:t>
            </a:r>
            <a:r>
              <a:rPr lang="ru-RU" sz="2800"/>
              <a:t>машины и тд.).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24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C8A0-A753-CA68-A343-4C3FFABD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093A1-9224-4673-597E-7569C9BA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Наследование. Пример.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9BB784-061E-AAC8-109F-5642AC957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0213"/>
            <a:ext cx="11009575" cy="168266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Объект класса </a:t>
            </a:r>
            <a:r>
              <a:rPr lang="en-US" dirty="0">
                <a:solidFill>
                  <a:srgbClr val="00B0F0"/>
                </a:solidFill>
              </a:rPr>
              <a:t>Student “B”</a:t>
            </a:r>
            <a:r>
              <a:rPr lang="en-US" dirty="0"/>
              <a:t> </a:t>
            </a:r>
            <a:r>
              <a:rPr lang="ru-RU" dirty="0"/>
              <a:t>внутри реализации не имеет поля </a:t>
            </a:r>
            <a:r>
              <a:rPr lang="en-US" dirty="0">
                <a:solidFill>
                  <a:srgbClr val="00B0F0"/>
                </a:solidFill>
              </a:rPr>
              <a:t>name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>
                <a:solidFill>
                  <a:srgbClr val="00B0F0"/>
                </a:solidFill>
              </a:rPr>
              <a:t>MyName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/>
              <a:t>, </a:t>
            </a:r>
            <a:r>
              <a:rPr lang="ru-RU" dirty="0"/>
              <a:t>а наследует их. При этом поле </a:t>
            </a:r>
            <a:r>
              <a:rPr lang="en-US" dirty="0">
                <a:solidFill>
                  <a:srgbClr val="00B0F0"/>
                </a:solidFill>
              </a:rPr>
              <a:t>Live()</a:t>
            </a:r>
            <a:r>
              <a:rPr lang="ru-RU" dirty="0">
                <a:solidFill>
                  <a:srgbClr val="00B0F0"/>
                </a:solidFill>
              </a:rPr>
              <a:t> </a:t>
            </a:r>
            <a:r>
              <a:rPr lang="ru-RU" dirty="0"/>
              <a:t>переопределяется</a:t>
            </a:r>
            <a:r>
              <a:rPr lang="en-US" dirty="0"/>
              <a:t>, </a:t>
            </a:r>
            <a:r>
              <a:rPr lang="ru-RU" dirty="0"/>
              <a:t>то есть объект </a:t>
            </a:r>
            <a:r>
              <a:rPr lang="en-US" dirty="0">
                <a:solidFill>
                  <a:srgbClr val="00B0F0"/>
                </a:solidFill>
              </a:rPr>
              <a:t>Student</a:t>
            </a:r>
            <a:r>
              <a:rPr lang="en-US" dirty="0"/>
              <a:t> </a:t>
            </a:r>
            <a:r>
              <a:rPr lang="ru-RU" dirty="0"/>
              <a:t>делает это иначе</a:t>
            </a:r>
            <a:r>
              <a:rPr lang="en-US" dirty="0"/>
              <a:t>, </a:t>
            </a:r>
            <a:r>
              <a:rPr lang="ru-RU" dirty="0"/>
              <a:t>нежели </a:t>
            </a:r>
            <a:r>
              <a:rPr lang="en-US" dirty="0">
                <a:solidFill>
                  <a:srgbClr val="00B0F0"/>
                </a:solidFill>
              </a:rPr>
              <a:t>Human</a:t>
            </a:r>
            <a:r>
              <a:rPr lang="en-US" dirty="0"/>
              <a:t>.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866CFE-4BF3-E7C4-550C-31740D698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408510"/>
            <a:ext cx="5848350" cy="319087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1F5B5F-F19F-D68A-6A10-996018EDB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722" y="1408510"/>
            <a:ext cx="3319431" cy="319087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68148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C43E-157B-BEA0-2FA2-148FC9E57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70985-9414-0D09-B955-6087592C4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Наследование. Пример.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36A1FEE-CB13-C0D7-F1BF-CF4B51CEA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177" y="1777634"/>
            <a:ext cx="5927644" cy="26485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586212-3D01-4A91-62D8-B3E13B8B0437}"/>
              </a:ext>
            </a:extLst>
          </p:cNvPr>
          <p:cNvSpPr txBox="1"/>
          <p:nvPr/>
        </p:nvSpPr>
        <p:spPr>
          <a:xfrm>
            <a:off x="4661376" y="4429125"/>
            <a:ext cx="2869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/>
              <a:t>Вывод в консоль.</a:t>
            </a:r>
          </a:p>
        </p:txBody>
      </p:sp>
    </p:spTree>
    <p:extLst>
      <p:ext uri="{BB962C8B-B14F-4D97-AF65-F5344CB8AC3E}">
        <p14:creationId xmlns:p14="http://schemas.microsoft.com/office/powerpoint/2010/main" val="392433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53E7D-6B3D-1D63-7FDC-DFB44D1C3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64F05-AB1B-6A70-4180-099E62ECE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Наследование. Принципы.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B65903-E25F-6CEC-BCF2-0560921CB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734" y="2035534"/>
            <a:ext cx="11147066" cy="4457341"/>
          </a:xfrm>
        </p:spPr>
        <p:txBody>
          <a:bodyPr/>
          <a:lstStyle/>
          <a:p>
            <a:pPr algn="just"/>
            <a:r>
              <a:rPr lang="ru-RU" dirty="0"/>
              <a:t>Наследники копируют </a:t>
            </a:r>
            <a:r>
              <a:rPr lang="ru-RU" dirty="0">
                <a:solidFill>
                  <a:srgbClr val="00B0F0"/>
                </a:solidFill>
              </a:rPr>
              <a:t>атрибуты</a:t>
            </a:r>
            <a:r>
              <a:rPr lang="ru-RU" dirty="0"/>
              <a:t> и </a:t>
            </a:r>
            <a:r>
              <a:rPr lang="ru-RU" dirty="0">
                <a:solidFill>
                  <a:srgbClr val="00B0F0"/>
                </a:solidFill>
              </a:rPr>
              <a:t>методы</a:t>
            </a:r>
            <a:r>
              <a:rPr lang="ru-RU" dirty="0"/>
              <a:t> базового класса.  При этом внутри реализации классов-наследников </a:t>
            </a:r>
            <a:r>
              <a:rPr lang="ru-RU" dirty="0">
                <a:solidFill>
                  <a:srgbClr val="FF0000"/>
                </a:solidFill>
              </a:rPr>
              <a:t>можно (иногда нужно!) переопределять</a:t>
            </a:r>
            <a:r>
              <a:rPr lang="ru-RU" dirty="0"/>
              <a:t> эти атрибуты и методы</a:t>
            </a:r>
            <a:r>
              <a:rPr lang="en-US" dirty="0"/>
              <a:t>.</a:t>
            </a:r>
            <a:endParaRPr lang="ru-RU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ru-RU" dirty="0"/>
              <a:t>Кроме копирования наследники также могут обладать </a:t>
            </a:r>
            <a:r>
              <a:rPr lang="ru-RU" dirty="0">
                <a:solidFill>
                  <a:srgbClr val="00B0F0"/>
                </a:solidFill>
              </a:rPr>
              <a:t>собственными полями</a:t>
            </a:r>
            <a:r>
              <a:rPr lang="en-US" dirty="0"/>
              <a:t>. </a:t>
            </a:r>
            <a:r>
              <a:rPr lang="ru-RU" dirty="0"/>
              <a:t>Эти поля </a:t>
            </a:r>
            <a:r>
              <a:rPr lang="ru-RU" dirty="0">
                <a:solidFill>
                  <a:srgbClr val="FF0000"/>
                </a:solidFill>
              </a:rPr>
              <a:t>не будут доступны в базовых классах</a:t>
            </a:r>
            <a:r>
              <a:rPr lang="ru-RU" dirty="0"/>
              <a:t> или других классах-наследниках.</a:t>
            </a:r>
          </a:p>
        </p:txBody>
      </p:sp>
    </p:spTree>
    <p:extLst>
      <p:ext uri="{BB962C8B-B14F-4D97-AF65-F5344CB8AC3E}">
        <p14:creationId xmlns:p14="http://schemas.microsoft.com/office/powerpoint/2010/main" val="4084501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035BA-DE07-AC0F-9629-89399C11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55B6A-D2C1-9343-367B-33AD42CF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Наследование. Построение класса.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E7F534-9523-4B25-59E7-1026DF638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11" y="1354576"/>
            <a:ext cx="11815638" cy="4457341"/>
          </a:xfrm>
        </p:spPr>
        <p:txBody>
          <a:bodyPr/>
          <a:lstStyle/>
          <a:p>
            <a:pPr algn="just"/>
            <a:r>
              <a:rPr lang="ru-RU" sz="2400" dirty="0"/>
              <a:t>Файлы .</a:t>
            </a:r>
            <a:r>
              <a:rPr lang="en-US" sz="2400" dirty="0" err="1"/>
              <a:t>hh</a:t>
            </a:r>
            <a:r>
              <a:rPr lang="en-US" sz="2400" dirty="0"/>
              <a:t> </a:t>
            </a:r>
            <a:r>
              <a:rPr lang="ru-RU" sz="2400" dirty="0"/>
              <a:t>(</a:t>
            </a:r>
            <a:r>
              <a:rPr lang="en-US" sz="2400" dirty="0"/>
              <a:t>headers</a:t>
            </a:r>
            <a:r>
              <a:rPr lang="ru-RU" sz="2400" dirty="0"/>
              <a:t>)</a:t>
            </a:r>
            <a:r>
              <a:rPr lang="en-US" sz="2400" dirty="0"/>
              <a:t> </a:t>
            </a:r>
            <a:r>
              <a:rPr lang="ru-RU" sz="2400" dirty="0"/>
              <a:t>содержат </a:t>
            </a:r>
            <a:r>
              <a:rPr lang="ru-RU" sz="2400" dirty="0">
                <a:solidFill>
                  <a:srgbClr val="00B0F0"/>
                </a:solidFill>
              </a:rPr>
              <a:t>интерфейс</a:t>
            </a:r>
            <a:r>
              <a:rPr lang="ru-RU" sz="2400" dirty="0"/>
              <a:t> нашего класса – то, </a:t>
            </a:r>
            <a:r>
              <a:rPr lang="ru-RU" sz="2400" dirty="0">
                <a:solidFill>
                  <a:srgbClr val="FF0000"/>
                </a:solidFill>
              </a:rPr>
              <a:t>что</a:t>
            </a:r>
            <a:r>
              <a:rPr lang="ru-RU" sz="2400" dirty="0"/>
              <a:t> мы хотим </a:t>
            </a:r>
            <a:r>
              <a:rPr lang="ru-RU" sz="2400" dirty="0">
                <a:solidFill>
                  <a:srgbClr val="FF0000"/>
                </a:solidFill>
              </a:rPr>
              <a:t>реализовать</a:t>
            </a:r>
            <a:r>
              <a:rPr lang="ru-RU" sz="2400" dirty="0"/>
              <a:t> внутри него, но </a:t>
            </a:r>
            <a:r>
              <a:rPr lang="ru-RU" sz="2400" dirty="0">
                <a:solidFill>
                  <a:srgbClr val="FF0000"/>
                </a:solidFill>
              </a:rPr>
              <a:t>не говорим</a:t>
            </a:r>
            <a:r>
              <a:rPr lang="ru-RU" sz="2400" dirty="0"/>
              <a:t>, </a:t>
            </a:r>
            <a:r>
              <a:rPr lang="ru-RU" sz="2400" dirty="0">
                <a:solidFill>
                  <a:srgbClr val="FF0000"/>
                </a:solidFill>
              </a:rPr>
              <a:t>как</a:t>
            </a:r>
            <a:r>
              <a:rPr lang="ru-RU" sz="2400" dirty="0"/>
              <a:t> это сделать.</a:t>
            </a:r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ru-RU" sz="2400" dirty="0"/>
              <a:t>Файлы </a:t>
            </a:r>
            <a:r>
              <a:rPr lang="en-US" sz="2400" dirty="0"/>
              <a:t>.cc (sources)</a:t>
            </a:r>
            <a:r>
              <a:rPr lang="ru-RU" sz="2400" dirty="0"/>
              <a:t> содержат </a:t>
            </a:r>
            <a:r>
              <a:rPr lang="ru-RU" sz="2400" dirty="0">
                <a:solidFill>
                  <a:srgbClr val="00B0F0"/>
                </a:solidFill>
              </a:rPr>
              <a:t>реализацию</a:t>
            </a:r>
            <a:r>
              <a:rPr lang="ru-RU" sz="2400" dirty="0"/>
              <a:t>, здесь мы указываем, </a:t>
            </a:r>
            <a:r>
              <a:rPr lang="ru-RU" sz="2400" dirty="0">
                <a:solidFill>
                  <a:srgbClr val="FF0000"/>
                </a:solidFill>
              </a:rPr>
              <a:t>как должен работать</a:t>
            </a:r>
            <a:r>
              <a:rPr lang="ru-RU" sz="2400" dirty="0"/>
              <a:t> наш интерфейс.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2344D6-BAC1-57AA-8DFC-A6000BA6B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742" y="2161185"/>
            <a:ext cx="4522515" cy="179161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FC5CAA-5D2E-84C1-289C-B157E31C6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742" y="4794893"/>
            <a:ext cx="4522515" cy="175324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810087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3922F-F680-6BDE-8C44-30B71FE7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Базовый класс </a:t>
            </a:r>
            <a:r>
              <a:rPr lang="en-US"/>
              <a:t>G4VUserDetectorConstruction.</a:t>
            </a:r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C877EB9-2516-7B34-F150-1F8D9E0FB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2904"/>
            <a:ext cx="4886325" cy="180975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E68E6A-0C4C-0ED2-9656-C41B823063CA}"/>
              </a:ext>
            </a:extLst>
          </p:cNvPr>
          <p:cNvSpPr txBox="1"/>
          <p:nvPr/>
        </p:nvSpPr>
        <p:spPr>
          <a:xfrm>
            <a:off x="6166288" y="1967788"/>
            <a:ext cx="57915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9875" algn="just">
              <a:buFont typeface="Arial" panose="020B0604020202020204" pitchFamily="34" charset="0"/>
              <a:buChar char="•"/>
            </a:pPr>
            <a:r>
              <a:rPr lang="ru-RU" sz="2800" dirty="0"/>
              <a:t>Базовый класс определяет, </a:t>
            </a:r>
            <a:r>
              <a:rPr lang="ru-RU" sz="2800" dirty="0">
                <a:solidFill>
                  <a:srgbClr val="FF0000"/>
                </a:solidFill>
              </a:rPr>
              <a:t>как должны выполняться</a:t>
            </a:r>
            <a:r>
              <a:rPr lang="ru-RU" sz="2800" dirty="0"/>
              <a:t> все процессы, связанные с геометрией. Включает в себя </a:t>
            </a:r>
            <a:r>
              <a:rPr lang="ru-RU" sz="2800" dirty="0">
                <a:solidFill>
                  <a:srgbClr val="00B0F0"/>
                </a:solidFill>
              </a:rPr>
              <a:t>набор методов</a:t>
            </a:r>
            <a:r>
              <a:rPr lang="ru-RU" sz="2800" dirty="0"/>
              <a:t>, которыми разрешено пользоваться для работы с геометрией.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4A43DE-DAB6-30FE-17E0-F458734D089D}"/>
              </a:ext>
            </a:extLst>
          </p:cNvPr>
          <p:cNvSpPr txBox="1"/>
          <p:nvPr/>
        </p:nvSpPr>
        <p:spPr>
          <a:xfrm>
            <a:off x="284806" y="4922544"/>
            <a:ext cx="1176296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sz="2800" i="1" dirty="0"/>
              <a:t>В ходе работы с любым действием мы </a:t>
            </a:r>
            <a:r>
              <a:rPr lang="ru-RU" sz="2800" i="1" dirty="0">
                <a:solidFill>
                  <a:srgbClr val="FF0000"/>
                </a:solidFill>
              </a:rPr>
              <a:t>переопределяем базовые методы</a:t>
            </a:r>
            <a:r>
              <a:rPr lang="ru-RU" sz="28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8411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34519-96D4-B194-7147-13448CA62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43562B-86B1-75CB-5249-1BB38BDA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Виды объёмов. </a:t>
            </a:r>
            <a:r>
              <a:rPr lang="en-US"/>
              <a:t>SolidVolume.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27A40-A1B3-22C4-0078-49B451FF63F0}"/>
              </a:ext>
            </a:extLst>
          </p:cNvPr>
          <p:cNvSpPr txBox="1"/>
          <p:nvPr/>
        </p:nvSpPr>
        <p:spPr>
          <a:xfrm>
            <a:off x="415636" y="1310325"/>
            <a:ext cx="11637819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B0F0"/>
                </a:solidFill>
              </a:rPr>
              <a:t>SolidVolume</a:t>
            </a:r>
            <a:r>
              <a:rPr lang="en-US" sz="2800" dirty="0"/>
              <a:t> </a:t>
            </a:r>
            <a:r>
              <a:rPr lang="ru-RU" sz="2800" dirty="0"/>
              <a:t>определяет </a:t>
            </a:r>
            <a:r>
              <a:rPr lang="ru-RU" sz="2800" dirty="0">
                <a:solidFill>
                  <a:srgbClr val="FF0000"/>
                </a:solidFill>
              </a:rPr>
              <a:t>вид</a:t>
            </a:r>
            <a:r>
              <a:rPr lang="ru-RU" sz="2800" dirty="0"/>
              <a:t> нашего объёма</a:t>
            </a:r>
            <a:r>
              <a:rPr lang="en-US" sz="2800" dirty="0"/>
              <a:t>, </a:t>
            </a:r>
            <a:r>
              <a:rPr lang="ru-RU" sz="2800" dirty="0"/>
              <a:t>будь то куб</a:t>
            </a:r>
            <a:r>
              <a:rPr lang="en-US" sz="2800" dirty="0"/>
              <a:t>, </a:t>
            </a:r>
            <a:r>
              <a:rPr lang="ru-RU" sz="2800" dirty="0"/>
              <a:t>цилиндр</a:t>
            </a:r>
            <a:r>
              <a:rPr lang="en-US" sz="2800" dirty="0"/>
              <a:t>, </a:t>
            </a:r>
            <a:r>
              <a:rPr lang="ru-RU" sz="2800" dirty="0"/>
              <a:t>сфера</a:t>
            </a:r>
            <a:r>
              <a:rPr lang="en-US" sz="2800" dirty="0"/>
              <a:t>,</a:t>
            </a:r>
            <a:r>
              <a:rPr lang="ru-RU" sz="2800" dirty="0"/>
              <a:t> конус или собственная </a:t>
            </a:r>
            <a:r>
              <a:rPr lang="ru-RU" sz="2800" dirty="0" err="1"/>
              <a:t>геометриче</a:t>
            </a:r>
            <a:r>
              <a:rPr lang="en-US" sz="2800" dirty="0"/>
              <a:t>c</a:t>
            </a:r>
            <a:r>
              <a:rPr lang="ru-RU" sz="2800" dirty="0"/>
              <a:t>кая фигура.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983A0-C429-09B1-8E39-07FFE1326D65}"/>
              </a:ext>
            </a:extLst>
          </p:cNvPr>
          <p:cNvSpPr txBox="1"/>
          <p:nvPr/>
        </p:nvSpPr>
        <p:spPr>
          <a:xfrm>
            <a:off x="186079" y="2914954"/>
            <a:ext cx="748145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4500" algn="just">
              <a:buFont typeface="Arial" panose="020B0604020202020204" pitchFamily="34" charset="0"/>
              <a:buChar char="•"/>
            </a:pPr>
            <a:r>
              <a:rPr lang="ru-RU" sz="2600" dirty="0"/>
              <a:t>Для </a:t>
            </a:r>
            <a:r>
              <a:rPr lang="ru-RU" sz="2600" dirty="0">
                <a:solidFill>
                  <a:srgbClr val="FF0000"/>
                </a:solidFill>
              </a:rPr>
              <a:t>большинства</a:t>
            </a:r>
            <a:r>
              <a:rPr lang="ru-RU" sz="2600" dirty="0"/>
              <a:t> обычных геометрий (а также некоторых специфических</a:t>
            </a:r>
            <a:r>
              <a:rPr lang="en-US" sz="2600" dirty="0"/>
              <a:t>,</a:t>
            </a:r>
            <a:r>
              <a:rPr lang="ru-RU" sz="2600" dirty="0"/>
              <a:t> распространённых в детекторной практике) в </a:t>
            </a:r>
            <a:r>
              <a:rPr lang="en-US" sz="2600" dirty="0"/>
              <a:t>Geant4</a:t>
            </a:r>
            <a:r>
              <a:rPr lang="ru-RU" sz="2600" dirty="0"/>
              <a:t> существует </a:t>
            </a:r>
            <a:r>
              <a:rPr lang="ru-RU" sz="2600" i="1" u="sng" dirty="0"/>
              <a:t>внутренний класс объёма</a:t>
            </a:r>
            <a:r>
              <a:rPr lang="ru-RU" sz="2600" dirty="0"/>
              <a:t> (</a:t>
            </a:r>
            <a:r>
              <a:rPr lang="en-US" sz="2600" dirty="0">
                <a:solidFill>
                  <a:srgbClr val="00B0F0"/>
                </a:solidFill>
              </a:rPr>
              <a:t>G4Box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00B0F0"/>
                </a:solidFill>
              </a:rPr>
              <a:t>G4Tubs</a:t>
            </a:r>
            <a:r>
              <a:rPr lang="en-US" sz="2600" dirty="0"/>
              <a:t> …</a:t>
            </a:r>
            <a:r>
              <a:rPr lang="ru-RU" sz="2600" dirty="0"/>
              <a:t>)</a:t>
            </a:r>
            <a:r>
              <a:rPr lang="en-US" sz="2600" dirty="0"/>
              <a:t>, </a:t>
            </a:r>
            <a:r>
              <a:rPr lang="ru-RU" sz="2600" dirty="0"/>
              <a:t>для построения которого нужно задать </a:t>
            </a:r>
            <a:r>
              <a:rPr lang="ru-RU" sz="2600" i="1" u="sng" dirty="0"/>
              <a:t>характерные параметры</a:t>
            </a:r>
            <a:r>
              <a:rPr lang="ru-RU" sz="2600" dirty="0"/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E7F86FD-7C37-786F-70AE-2C707977A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614" y="2446229"/>
            <a:ext cx="3114427" cy="402020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27246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A0F42-2867-CF91-B8A5-50950D8C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116B3-3363-F97E-1890-179A76ED9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Виды объёмов. </a:t>
            </a:r>
            <a:r>
              <a:rPr lang="en-US"/>
              <a:t>SolidVolume.</a:t>
            </a:r>
            <a:r>
              <a:rPr lang="ru-RU"/>
              <a:t> </a:t>
            </a:r>
            <a:r>
              <a:rPr lang="en-US"/>
              <a:t>G4Box.</a:t>
            </a:r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BC3467-1925-2815-E625-09EF8069B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473" y="1690688"/>
            <a:ext cx="8210921" cy="343059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A29C4B-3299-23E6-B632-D745635CFB58}"/>
              </a:ext>
            </a:extLst>
          </p:cNvPr>
          <p:cNvSpPr txBox="1"/>
          <p:nvPr/>
        </p:nvSpPr>
        <p:spPr>
          <a:xfrm>
            <a:off x="106878" y="5486400"/>
            <a:ext cx="11994079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Для </a:t>
            </a:r>
            <a:r>
              <a:rPr lang="en-US" sz="2800" dirty="0"/>
              <a:t>G4Box </a:t>
            </a:r>
            <a:r>
              <a:rPr lang="ru-RU" sz="2800" dirty="0"/>
              <a:t>важны </a:t>
            </a:r>
            <a:r>
              <a:rPr lang="ru-RU" sz="2800" dirty="0">
                <a:solidFill>
                  <a:srgbClr val="00B0F0"/>
                </a:solidFill>
              </a:rPr>
              <a:t>толщина</a:t>
            </a:r>
            <a:r>
              <a:rPr lang="en-US" sz="2800" dirty="0"/>
              <a:t>, </a:t>
            </a:r>
            <a:r>
              <a:rPr lang="ru-RU" sz="2800" dirty="0">
                <a:solidFill>
                  <a:srgbClr val="00B0F0"/>
                </a:solidFill>
              </a:rPr>
              <a:t>ширина</a:t>
            </a:r>
            <a:r>
              <a:rPr lang="ru-RU" sz="2800" dirty="0"/>
              <a:t> и </a:t>
            </a:r>
            <a:r>
              <a:rPr lang="ru-RU" sz="2800" dirty="0">
                <a:solidFill>
                  <a:srgbClr val="00B0F0"/>
                </a:solidFill>
              </a:rPr>
              <a:t>высота</a:t>
            </a:r>
            <a:r>
              <a:rPr lang="ru-RU" sz="2800" dirty="0"/>
              <a:t>. В параметрах указывается </a:t>
            </a:r>
            <a:r>
              <a:rPr lang="ru-RU" sz="2800" dirty="0">
                <a:solidFill>
                  <a:srgbClr val="FF0000"/>
                </a:solidFill>
              </a:rPr>
              <a:t>половинное</a:t>
            </a:r>
            <a:r>
              <a:rPr lang="ru-RU" sz="2800" dirty="0"/>
              <a:t> значение этих величин.</a:t>
            </a:r>
          </a:p>
        </p:txBody>
      </p:sp>
    </p:spTree>
    <p:extLst>
      <p:ext uri="{BB962C8B-B14F-4D97-AF65-F5344CB8AC3E}">
        <p14:creationId xmlns:p14="http://schemas.microsoft.com/office/powerpoint/2010/main" val="2008658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4E314-B8CC-BD1C-8379-7F8EA56E1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8325C-C0BE-E6CE-58FA-147BDEA1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Виды объёмов. </a:t>
            </a:r>
            <a:r>
              <a:rPr lang="en-US"/>
              <a:t>SolidVolume.</a:t>
            </a:r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B11E1F-C7FF-1F30-8D71-3FED858DE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1377950"/>
            <a:ext cx="1105852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34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7C0F9-8642-62BC-A854-47740512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7ED933-3A9D-C658-3CDB-1047E3DFC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Виды объёмов. </a:t>
            </a:r>
            <a:r>
              <a:rPr lang="en-US"/>
              <a:t>LogicalVolume.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520C01-B180-9CD2-6D7B-BCF43D745C09}"/>
              </a:ext>
            </a:extLst>
          </p:cNvPr>
          <p:cNvSpPr txBox="1"/>
          <p:nvPr/>
        </p:nvSpPr>
        <p:spPr>
          <a:xfrm>
            <a:off x="653470" y="1429078"/>
            <a:ext cx="113999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00B0F0"/>
                </a:solidFill>
              </a:rPr>
              <a:t>LogicalVolume</a:t>
            </a:r>
            <a:r>
              <a:rPr lang="en-US" sz="2800" dirty="0"/>
              <a:t> </a:t>
            </a:r>
            <a:r>
              <a:rPr lang="ru-RU" sz="2800" dirty="0"/>
              <a:t>содержит всю информацию об объеме</a:t>
            </a:r>
            <a:r>
              <a:rPr lang="en-US" sz="2800" dirty="0"/>
              <a:t>, </a:t>
            </a:r>
            <a:r>
              <a:rPr lang="ru-RU" sz="2800" dirty="0"/>
              <a:t>кроме позиции в симуляции. Включает в себя</a:t>
            </a:r>
            <a:r>
              <a:rPr lang="en-US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B0F0"/>
                </a:solidFill>
              </a:rPr>
              <a:t>SolidVolume</a:t>
            </a:r>
            <a:endParaRPr lang="en-US" sz="2800" dirty="0">
              <a:solidFill>
                <a:srgbClr val="00B0F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Материал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Распределение электромагнитного поля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B74431-4003-2BB8-405F-6B1B93977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3675847"/>
            <a:ext cx="936307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17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35DE8-4609-2EBB-FA78-ED1015DB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8768A3-EFEC-A51E-CF1F-557FA729D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Виды объёмов.</a:t>
            </a:r>
            <a:r>
              <a:rPr lang="en-US"/>
              <a:t> PhysicalVolume.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31727-005C-9C22-60FC-2788432216F2}"/>
              </a:ext>
            </a:extLst>
          </p:cNvPr>
          <p:cNvSpPr txBox="1"/>
          <p:nvPr/>
        </p:nvSpPr>
        <p:spPr>
          <a:xfrm>
            <a:off x="653470" y="1429078"/>
            <a:ext cx="11399986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00B0F0"/>
                </a:solidFill>
              </a:rPr>
              <a:t>PhysicalVolume</a:t>
            </a:r>
            <a:r>
              <a:rPr lang="en-US" sz="2800" dirty="0"/>
              <a:t> </a:t>
            </a:r>
            <a:r>
              <a:rPr lang="ru-RU" sz="2800" dirty="0"/>
              <a:t>задаёт </a:t>
            </a:r>
            <a:r>
              <a:rPr lang="ru-RU" sz="2800" dirty="0">
                <a:solidFill>
                  <a:srgbClr val="FF0000"/>
                </a:solidFill>
              </a:rPr>
              <a:t>положение объекта</a:t>
            </a:r>
            <a:r>
              <a:rPr lang="ru-RU" sz="2800" dirty="0"/>
              <a:t> в пространстве симуляции</a:t>
            </a:r>
            <a:r>
              <a:rPr lang="en-US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Присваивает этому объекту место на координатной плоскости материнского объёма в виде </a:t>
            </a:r>
            <a:r>
              <a:rPr lang="en-US" sz="2800" dirty="0">
                <a:solidFill>
                  <a:srgbClr val="00B0F0"/>
                </a:solidFill>
              </a:rPr>
              <a:t>G4ThreeVector()</a:t>
            </a:r>
            <a:r>
              <a:rPr lang="en-US" sz="2800" dirty="0"/>
              <a:t>, </a:t>
            </a:r>
            <a:r>
              <a:rPr lang="ru-RU" sz="2800" dirty="0"/>
              <a:t>а также может определять поворот </a:t>
            </a:r>
            <a:r>
              <a:rPr lang="en-US" sz="2800" dirty="0">
                <a:solidFill>
                  <a:srgbClr val="00B0F0"/>
                </a:solidFill>
              </a:rPr>
              <a:t>G4RotationMartix</a:t>
            </a:r>
            <a:r>
              <a:rPr lang="ru-RU" sz="2800" dirty="0">
                <a:solidFill>
                  <a:srgbClr val="00B0F0"/>
                </a:solidFill>
              </a:rPr>
              <a:t>()</a:t>
            </a:r>
            <a:r>
              <a:rPr lang="ru-RU" sz="2800" dirty="0"/>
              <a:t> (в тех же координатах). 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Подключает к этому объекту </a:t>
            </a:r>
            <a:r>
              <a:rPr lang="ru-RU" sz="2800" dirty="0">
                <a:solidFill>
                  <a:srgbClr val="00B0F0"/>
                </a:solidFill>
              </a:rPr>
              <a:t>логический объем</a:t>
            </a:r>
            <a:r>
              <a:rPr lang="ru-RU" sz="2800" dirty="0"/>
              <a:t> и рисует его геометрию.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Определяет </a:t>
            </a:r>
            <a:r>
              <a:rPr lang="ru-RU" sz="2800" dirty="0">
                <a:solidFill>
                  <a:srgbClr val="FF0000"/>
                </a:solidFill>
              </a:rPr>
              <a:t>параметры</a:t>
            </a:r>
            <a:r>
              <a:rPr lang="ru-RU" sz="2800" dirty="0"/>
              <a:t> родительских объёмов</a:t>
            </a:r>
            <a:r>
              <a:rPr lang="en-US" sz="2800" dirty="0"/>
              <a:t>, </a:t>
            </a:r>
            <a:r>
              <a:rPr lang="ru-RU" sz="2800" dirty="0"/>
              <a:t>а также порядок копий (если есть) 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95920-27A3-28D6-4849-C5BC99D00E43}"/>
              </a:ext>
            </a:extLst>
          </p:cNvPr>
          <p:cNvSpPr txBox="1"/>
          <p:nvPr/>
        </p:nvSpPr>
        <p:spPr>
          <a:xfrm>
            <a:off x="536448" y="5032187"/>
            <a:ext cx="11517008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Из сказанного следует</a:t>
            </a:r>
            <a:r>
              <a:rPr lang="en-US" sz="2800" dirty="0"/>
              <a:t>, </a:t>
            </a:r>
            <a:r>
              <a:rPr lang="ru-RU" sz="2800" dirty="0"/>
              <a:t>что один </a:t>
            </a:r>
            <a:r>
              <a:rPr lang="ru-RU" sz="2800" dirty="0">
                <a:solidFill>
                  <a:srgbClr val="00B0F0"/>
                </a:solidFill>
              </a:rPr>
              <a:t>логический объём</a:t>
            </a:r>
            <a:r>
              <a:rPr lang="ru-RU" sz="2800" dirty="0"/>
              <a:t> можно навесить на </a:t>
            </a:r>
            <a:r>
              <a:rPr lang="ru-RU" sz="2800" dirty="0">
                <a:solidFill>
                  <a:srgbClr val="FF0000"/>
                </a:solidFill>
              </a:rPr>
              <a:t>несколько</a:t>
            </a:r>
            <a:r>
              <a:rPr lang="ru-RU" sz="2800" dirty="0"/>
              <a:t> </a:t>
            </a:r>
            <a:r>
              <a:rPr lang="ru-RU" sz="2800" dirty="0">
                <a:solidFill>
                  <a:srgbClr val="00B0F0"/>
                </a:solidFill>
              </a:rPr>
              <a:t>физических</a:t>
            </a:r>
            <a:r>
              <a:rPr lang="ru-RU" sz="2800" dirty="0"/>
              <a:t>. Это сильно упрощает задачу наличия множества детекторов.</a:t>
            </a:r>
          </a:p>
        </p:txBody>
      </p:sp>
    </p:spTree>
    <p:extLst>
      <p:ext uri="{BB962C8B-B14F-4D97-AF65-F5344CB8AC3E}">
        <p14:creationId xmlns:p14="http://schemas.microsoft.com/office/powerpoint/2010/main" val="462764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FBF25-8F22-6DD5-72FE-70BA1DDF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65C66-21E7-C183-778F-1171C272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Виды объёмов.</a:t>
            </a:r>
            <a:r>
              <a:rPr lang="en-US"/>
              <a:t> PhysicalVolume.</a:t>
            </a:r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D1EA7E-8879-4EDA-5D76-E8C14F7DB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" y="2419350"/>
            <a:ext cx="1079182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540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AC07-4DA5-4270-7237-395AEA16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C84480-16EA-6F67-B4D1-848FE220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Булевые</a:t>
            </a:r>
            <a:r>
              <a:rPr lang="ru-RU" dirty="0"/>
              <a:t> операции. </a:t>
            </a:r>
            <a:r>
              <a:rPr lang="en-US" dirty="0"/>
              <a:t>G4UnionSolid</a:t>
            </a:r>
            <a:r>
              <a:rPr lang="ru-RU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77DFB-E78B-64B0-222C-AFDE63639E06}"/>
              </a:ext>
            </a:extLst>
          </p:cNvPr>
          <p:cNvSpPr txBox="1"/>
          <p:nvPr/>
        </p:nvSpPr>
        <p:spPr>
          <a:xfrm>
            <a:off x="558141" y="1429078"/>
            <a:ext cx="1129343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Принимает на вход два </a:t>
            </a:r>
            <a:r>
              <a:rPr lang="en-US" sz="2800" dirty="0">
                <a:solidFill>
                  <a:srgbClr val="00B0F0"/>
                </a:solidFill>
              </a:rPr>
              <a:t>Solid</a:t>
            </a:r>
            <a:r>
              <a:rPr lang="en-US" sz="2800" dirty="0"/>
              <a:t> </a:t>
            </a:r>
            <a:r>
              <a:rPr lang="ru-RU" sz="2800" dirty="0"/>
              <a:t>объёма.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Делает </a:t>
            </a:r>
            <a:r>
              <a:rPr lang="ru-RU" sz="2800" dirty="0">
                <a:solidFill>
                  <a:srgbClr val="FF0000"/>
                </a:solidFill>
              </a:rPr>
              <a:t>сложение</a:t>
            </a:r>
            <a:r>
              <a:rPr lang="ru-RU" sz="2800" dirty="0"/>
              <a:t> этих объемов</a:t>
            </a:r>
            <a:r>
              <a:rPr lang="en-US" sz="2800" dirty="0"/>
              <a:t>. </a:t>
            </a:r>
            <a:r>
              <a:rPr lang="ru-RU" sz="2800" dirty="0"/>
              <a:t>Получается область пространства</a:t>
            </a:r>
            <a:r>
              <a:rPr lang="en-US" sz="2800" dirty="0"/>
              <a:t>, </a:t>
            </a:r>
            <a:r>
              <a:rPr lang="ru-RU" sz="2800" dirty="0"/>
              <a:t>которая содержит два объёма целиком.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Можно изменить положение второго объёма в координатах первого</a:t>
            </a:r>
            <a:r>
              <a:rPr lang="en-US" sz="2800" dirty="0"/>
              <a:t> (</a:t>
            </a:r>
            <a:r>
              <a:rPr lang="ru-RU" sz="2800" dirty="0"/>
              <a:t>сдвиг</a:t>
            </a:r>
            <a:r>
              <a:rPr lang="en-US" sz="2800" dirty="0"/>
              <a:t>/</a:t>
            </a:r>
            <a:r>
              <a:rPr lang="ru-RU" sz="2800" dirty="0"/>
              <a:t>поворот</a:t>
            </a:r>
            <a:r>
              <a:rPr lang="en-US" sz="2800" dirty="0"/>
              <a:t>)</a:t>
            </a:r>
            <a:r>
              <a:rPr lang="ru-RU" sz="2800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133331-0C7D-12E0-EF56-9BF3EE759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829" y="3598655"/>
            <a:ext cx="3060342" cy="228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00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FF81-C155-2116-6652-4BA5948C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8AA64-30E1-4F3B-0000-2809C8867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Булевые</a:t>
            </a:r>
            <a:r>
              <a:rPr lang="ru-RU" dirty="0"/>
              <a:t> операции. </a:t>
            </a:r>
            <a:r>
              <a:rPr lang="en-US" dirty="0" err="1"/>
              <a:t>SubrtactionSolid</a:t>
            </a:r>
            <a:r>
              <a:rPr lang="ru-RU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2F903-63DA-4C3A-117D-DA84E06080A8}"/>
              </a:ext>
            </a:extLst>
          </p:cNvPr>
          <p:cNvSpPr txBox="1"/>
          <p:nvPr/>
        </p:nvSpPr>
        <p:spPr>
          <a:xfrm>
            <a:off x="558140" y="1429078"/>
            <a:ext cx="113646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Принимает на вход два </a:t>
            </a:r>
            <a:r>
              <a:rPr lang="en-US" sz="2800" dirty="0">
                <a:solidFill>
                  <a:srgbClr val="00B0F0"/>
                </a:solidFill>
              </a:rPr>
              <a:t>Solid</a:t>
            </a:r>
            <a:r>
              <a:rPr lang="en-US" sz="2800" dirty="0"/>
              <a:t> </a:t>
            </a:r>
            <a:r>
              <a:rPr lang="ru-RU" sz="2800" dirty="0"/>
              <a:t>объёма.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Выводит </a:t>
            </a:r>
            <a:r>
              <a:rPr lang="ru-RU" sz="2800" dirty="0">
                <a:solidFill>
                  <a:srgbClr val="FF0000"/>
                </a:solidFill>
              </a:rPr>
              <a:t>вычитание</a:t>
            </a:r>
            <a:r>
              <a:rPr lang="ru-RU" sz="2800" dirty="0"/>
              <a:t> этих объемов</a:t>
            </a:r>
            <a:r>
              <a:rPr lang="en-US" sz="2800" dirty="0"/>
              <a:t>. </a:t>
            </a:r>
            <a:r>
              <a:rPr lang="ru-RU" sz="2800" dirty="0"/>
              <a:t>Получается область пространства</a:t>
            </a:r>
            <a:r>
              <a:rPr lang="en-US" sz="2800" dirty="0"/>
              <a:t>, </a:t>
            </a:r>
            <a:r>
              <a:rPr lang="ru-RU" sz="2800" dirty="0"/>
              <a:t>которая занимает объём первого тела с вычетом из него второго.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Можно изменить положение второго объёма в координатах первого</a:t>
            </a:r>
            <a:r>
              <a:rPr lang="en-US" sz="2800" dirty="0"/>
              <a:t> (</a:t>
            </a:r>
            <a:r>
              <a:rPr lang="ru-RU" sz="2800" dirty="0"/>
              <a:t>сдвиг</a:t>
            </a:r>
            <a:r>
              <a:rPr lang="en-US" sz="2800" dirty="0"/>
              <a:t>/</a:t>
            </a:r>
            <a:r>
              <a:rPr lang="ru-RU" sz="2800" dirty="0"/>
              <a:t>поворот</a:t>
            </a:r>
            <a:r>
              <a:rPr lang="en-US" sz="2800" dirty="0"/>
              <a:t>)</a:t>
            </a:r>
            <a:r>
              <a:rPr lang="ru-RU" sz="2800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6600A9D-0673-D3AA-AE5B-42781C59D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307" y="3675847"/>
            <a:ext cx="3568350" cy="213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47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9C1FB-8279-3290-0318-4544FFC9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FCD99-78E4-737E-31E1-D300F6B9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Булевые</a:t>
            </a:r>
            <a:r>
              <a:rPr lang="ru-RU" dirty="0"/>
              <a:t> операции. </a:t>
            </a:r>
            <a:r>
              <a:rPr lang="en-US" dirty="0" err="1"/>
              <a:t>IntersectionSolid</a:t>
            </a:r>
            <a:r>
              <a:rPr lang="ru-RU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BD786-6989-8B8D-2AA3-62B04E414E7C}"/>
              </a:ext>
            </a:extLst>
          </p:cNvPr>
          <p:cNvSpPr txBox="1"/>
          <p:nvPr/>
        </p:nvSpPr>
        <p:spPr>
          <a:xfrm>
            <a:off x="558140" y="1429078"/>
            <a:ext cx="113646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Принимает на вход два </a:t>
            </a:r>
            <a:r>
              <a:rPr lang="en-US" sz="2800" dirty="0">
                <a:solidFill>
                  <a:srgbClr val="00B0F0"/>
                </a:solidFill>
              </a:rPr>
              <a:t>Solid</a:t>
            </a:r>
            <a:r>
              <a:rPr lang="en-US" sz="2800" dirty="0"/>
              <a:t> </a:t>
            </a:r>
            <a:r>
              <a:rPr lang="ru-RU" sz="2800" dirty="0"/>
              <a:t>объёма.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Выводит </a:t>
            </a:r>
            <a:r>
              <a:rPr lang="ru-RU" sz="2800" dirty="0">
                <a:solidFill>
                  <a:srgbClr val="FF0000"/>
                </a:solidFill>
              </a:rPr>
              <a:t>пересечение</a:t>
            </a:r>
            <a:r>
              <a:rPr lang="ru-RU" sz="2800" dirty="0"/>
              <a:t> этих объемов</a:t>
            </a:r>
            <a:r>
              <a:rPr lang="en-US" sz="2800" dirty="0"/>
              <a:t>. </a:t>
            </a:r>
            <a:r>
              <a:rPr lang="ru-RU" sz="2800" dirty="0"/>
              <a:t>Получается область пространства</a:t>
            </a:r>
            <a:r>
              <a:rPr lang="en-US" sz="2800" dirty="0"/>
              <a:t>, </a:t>
            </a:r>
            <a:r>
              <a:rPr lang="ru-RU" sz="2800" dirty="0"/>
              <a:t>состоящая только из пересечения этих объёмов (</a:t>
            </a:r>
            <a:r>
              <a:rPr lang="ru-RU" sz="2800" dirty="0">
                <a:solidFill>
                  <a:srgbClr val="FF0000"/>
                </a:solidFill>
              </a:rPr>
              <a:t>другие части объёмов удаляются</a:t>
            </a:r>
            <a:r>
              <a:rPr lang="ru-RU" sz="28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Можно изменить положение второго объёма в координатах первого</a:t>
            </a:r>
            <a:r>
              <a:rPr lang="en-US" sz="2800" dirty="0"/>
              <a:t> (</a:t>
            </a:r>
            <a:r>
              <a:rPr lang="ru-RU" sz="2800" dirty="0"/>
              <a:t>сдвиг</a:t>
            </a:r>
            <a:r>
              <a:rPr lang="en-US" sz="2800" dirty="0"/>
              <a:t>/</a:t>
            </a:r>
            <a:r>
              <a:rPr lang="ru-RU" sz="2800" dirty="0"/>
              <a:t>поворот</a:t>
            </a:r>
            <a:r>
              <a:rPr lang="en-US" sz="2800" dirty="0"/>
              <a:t>)</a:t>
            </a:r>
            <a:r>
              <a:rPr lang="ru-RU" sz="2800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19B996-7B5E-F30A-48E6-73DDB2C7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101" y="4106734"/>
            <a:ext cx="3570762" cy="212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45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1EE6-FD30-00E6-60A8-466A2EC4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9A115C-BF72-939E-0D2D-163BAABA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Копирование объёмов.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16194-68DC-1FB4-5EAC-C357AB321790}"/>
              </a:ext>
            </a:extLst>
          </p:cNvPr>
          <p:cNvSpPr txBox="1"/>
          <p:nvPr/>
        </p:nvSpPr>
        <p:spPr>
          <a:xfrm>
            <a:off x="336467" y="1334075"/>
            <a:ext cx="115190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7188">
              <a:buFont typeface="Arial" panose="020B0604020202020204" pitchFamily="34" charset="0"/>
              <a:buChar char="•"/>
            </a:pPr>
            <a:r>
              <a:rPr lang="ru-RU" sz="2800" dirty="0"/>
              <a:t>Для создание системы детекторов</a:t>
            </a:r>
            <a:r>
              <a:rPr lang="en-US" sz="2800" dirty="0"/>
              <a:t>, </a:t>
            </a:r>
            <a:r>
              <a:rPr lang="ru-RU" sz="2800" dirty="0"/>
              <a:t>элементы которой </a:t>
            </a:r>
            <a:r>
              <a:rPr lang="ru-RU" sz="2800" dirty="0" err="1">
                <a:solidFill>
                  <a:srgbClr val="FF0000"/>
                </a:solidFill>
              </a:rPr>
              <a:t>пространственно</a:t>
            </a:r>
            <a:r>
              <a:rPr lang="ru-RU" sz="2800" dirty="0">
                <a:solidFill>
                  <a:srgbClr val="FF0000"/>
                </a:solidFill>
              </a:rPr>
              <a:t> разнесены</a:t>
            </a:r>
            <a:r>
              <a:rPr lang="en-US" sz="2800" dirty="0"/>
              <a:t>, </a:t>
            </a:r>
            <a:r>
              <a:rPr lang="ru-RU" sz="2800" dirty="0"/>
              <a:t>удобно пользоваться </a:t>
            </a:r>
            <a:r>
              <a:rPr lang="ru-RU" sz="2800" i="1" u="sng" dirty="0"/>
              <a:t>копированием</a:t>
            </a:r>
            <a:r>
              <a:rPr lang="ru-RU" sz="2800" dirty="0"/>
              <a:t>.</a:t>
            </a:r>
          </a:p>
          <a:p>
            <a:pPr indent="357188">
              <a:buFont typeface="Arial" panose="020B0604020202020204" pitchFamily="34" charset="0"/>
              <a:buChar char="•"/>
            </a:pPr>
            <a:r>
              <a:rPr lang="ru-RU" sz="2800" dirty="0"/>
              <a:t>При помощи него через цикл </a:t>
            </a:r>
            <a:r>
              <a:rPr lang="en-US" sz="2800" dirty="0">
                <a:solidFill>
                  <a:srgbClr val="00B0F0"/>
                </a:solidFill>
              </a:rPr>
              <a:t>for() </a:t>
            </a:r>
            <a:r>
              <a:rPr lang="ru-RU" sz="2800" dirty="0"/>
              <a:t>можно создавать симметричную геометрию детекторных установок. Это требует небольшого изменения </a:t>
            </a:r>
            <a:r>
              <a:rPr lang="en-US" sz="2800" dirty="0">
                <a:solidFill>
                  <a:srgbClr val="00B0F0"/>
                </a:solidFill>
              </a:rPr>
              <a:t>G4VPhysicalVolume(</a:t>
            </a:r>
            <a:r>
              <a:rPr lang="ru-RU" sz="2800" dirty="0">
                <a:solidFill>
                  <a:srgbClr val="00B0F0"/>
                </a:solidFill>
              </a:rPr>
              <a:t>)</a:t>
            </a:r>
            <a:r>
              <a:rPr lang="en-US" sz="2800" dirty="0"/>
              <a:t>.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841F72-B611-2E7E-6791-FB64083E0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017" y="3429000"/>
            <a:ext cx="4409963" cy="325743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961417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2371</TotalTime>
  <Words>686</Words>
  <Application>Microsoft Office PowerPoint</Application>
  <PresentationFormat>Широкоэкранный</PresentationFormat>
  <Paragraphs>63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Aptos</vt:lpstr>
      <vt:lpstr>Arial</vt:lpstr>
      <vt:lpstr>Franklin Gothic Book</vt:lpstr>
      <vt:lpstr>Franklin Gothic Medium</vt:lpstr>
      <vt:lpstr>Тема Office</vt:lpstr>
      <vt:lpstr>Геометрия.</vt:lpstr>
      <vt:lpstr>G4RunManager (Single mode)</vt:lpstr>
      <vt:lpstr>Наследование.</vt:lpstr>
      <vt:lpstr>Наследование. Пример.</vt:lpstr>
      <vt:lpstr>Наследование. Пример.</vt:lpstr>
      <vt:lpstr>Наследование. Принципы.</vt:lpstr>
      <vt:lpstr>Наследование. Построение класса.</vt:lpstr>
      <vt:lpstr>Базовый класс G4VUserDetectorConstruction.</vt:lpstr>
      <vt:lpstr>Виды объёмов. SolidVolume.</vt:lpstr>
      <vt:lpstr>Виды объёмов. SolidVolume. G4Box.</vt:lpstr>
      <vt:lpstr>Виды объёмов. SolidVolume.</vt:lpstr>
      <vt:lpstr>Виды объёмов. LogicalVolume.</vt:lpstr>
      <vt:lpstr>Виды объёмов. PhysicalVolume.</vt:lpstr>
      <vt:lpstr>Виды объёмов. PhysicalVolume.</vt:lpstr>
      <vt:lpstr>Булевые операции. G4UnionSolid.</vt:lpstr>
      <vt:lpstr>Булевые операции. SubrtactionSolid.</vt:lpstr>
      <vt:lpstr>Булевые операции. IntersectionSolid.</vt:lpstr>
      <vt:lpstr>Копирование объёмов.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s4h0</dc:creator>
  <cp:lastModifiedBy>s4h0</cp:lastModifiedBy>
  <cp:revision>23</cp:revision>
  <dcterms:created xsi:type="dcterms:W3CDTF">2026-07-11T06:38:20Z</dcterms:created>
  <dcterms:modified xsi:type="dcterms:W3CDTF">2026-10-12T15:18:27Z</dcterms:modified>
</cp:coreProperties>
</file>