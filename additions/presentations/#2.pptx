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0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BC788-7014-3A93-5981-AB9F4007B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A68ACA-FCC2-D492-1951-B659DB2DD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158EA2-4044-A84D-C945-23D7294C0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D14A79-2B0B-0333-76D3-1E3ADD709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5CC686-AE62-3E3D-3B0E-8C6E94E5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26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2BD62-95D6-E1DE-5A48-7AE034EAC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DA3CB1-5205-8C14-AABC-2149A0A58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EDCD2F-0CA3-348C-E92E-A99AE6936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F399E6-999B-97CE-E7A4-2ED674F51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991986-501E-DB23-E436-3A5B90C6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695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F979C-F773-B65F-3B92-08315C99A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8560AB-D2A7-B9D8-CCC4-2D9428938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47A6D5-4452-1DD6-EFEB-BE30BCA2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7DD90C-76BE-F945-2993-137BFF6F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DD1655-B5D6-20AA-7FA6-10139C8C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57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E5C90-9D35-3D08-10F1-A0E8404E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AACF2C-4F01-862E-3BCF-BED8C0B12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555D78-4440-99C8-15CA-7200A2B40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5F2CD2-A563-5BFC-06C5-5A936F635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653E58-E8CF-56F6-8DF8-FCCBEE98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9F6309-76BC-4E62-D445-B210A1E8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85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E5885-D707-546D-DBD0-775606DE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222400-8EC3-BBC6-8196-8FFFFED8E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04FE18-6E94-6DD4-806F-FE6F0619D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E4450F-7D79-3E71-995A-62D3F0DD1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2CD3E8C-6109-BC75-A0CE-3FBFDB6CAC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3324016-5A97-EE93-AC1D-12569671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190BD07-12E5-C641-87AF-34A13CA0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57FFDC-E56C-E4B0-8037-17BD42A1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78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59497B-BCFE-B366-632F-22754432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6F2DDDD-A64D-6A23-F69B-BDAAEFFFD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1ACE48-5A2E-1E8F-462B-352813A9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516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1344D-49EA-3A8A-8A9B-F202A5CC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8A285B9-726B-8CBC-CFDA-2F519531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DC09593-D712-6724-913B-CE926926F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CF28F2-E80B-86FF-9497-98AF5C15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42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7EE29-889B-E8C1-C2DF-3B00D699B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5B9D5B-ED79-829F-B883-FEFED665A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05E311-1A82-6817-B5CD-378F745D2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8BAF27-FDF2-01FA-2848-5AE2FD62B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82DF4F-4438-5955-4D59-E727E8C8B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4E16D8-3B70-80E3-995C-78349F2E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08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3B58D-93B9-BFC3-6004-9B0EA369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E8CEBF-B330-4A0D-5230-1FC8A032E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A35837-3190-EC90-130B-A54111562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1FE328-C3ED-3D37-3010-FB78E12E0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F0387A-C46E-CE38-E300-AD12FCBE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65D4EF-EB1D-0029-9573-2213649F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182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FC547-EA9F-0589-DC9B-6BBC1C866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DA01CB-001F-EFD2-3A5D-3327141C3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546E6-1DE3-8475-FBC7-582F7CB3C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A4BB64-28FF-9C8C-798F-606A6B47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E4A97A-6156-FC3B-4F4D-9C7D7345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19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6EECB8C-90E0-22F1-393E-54E9FE7F6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1E683C-CEE3-FBA5-5C39-C597A3513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BC21B0-5FC4-EE79-543A-0D239B5D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9FAD48-684F-5C01-CC00-9B32CE62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703AA2-DED7-BFCE-58BF-C2F00E6B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130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B9176-CDD6-87E7-E1A3-3CA3BB424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3EC4FB-9F4E-F8F5-149D-FB353EBDC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61334A-28E2-65CC-3E03-0AAE02BC3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3BC14-DA90-4B9F-8041-99285502941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4FBB1F-D951-6516-7687-1D3EA2E70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0E1597-ADDF-0444-7762-4FDE83446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DBE21-2A44-4A10-940C-0C03172FC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95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6C6A0-7103-AF19-569B-A9C72064A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7994"/>
            <a:ext cx="9144000" cy="2387600"/>
          </a:xfrm>
        </p:spPr>
        <p:txBody>
          <a:bodyPr/>
          <a:lstStyle/>
          <a:p>
            <a:r>
              <a:rPr lang="en-US" dirty="0">
                <a:latin typeface="+mn-lt"/>
              </a:rPr>
              <a:t> </a:t>
            </a:r>
            <a:r>
              <a:rPr lang="ru-RU" dirty="0">
                <a:latin typeface="+mn-lt"/>
              </a:rPr>
              <a:t>Про </a:t>
            </a:r>
            <a:r>
              <a:rPr lang="en-US" dirty="0" err="1">
                <a:latin typeface="+mn-lt"/>
              </a:rPr>
              <a:t>cmake</a:t>
            </a:r>
            <a:r>
              <a:rPr lang="en-US" dirty="0">
                <a:latin typeface="+mn-lt"/>
              </a:rPr>
              <a:t>.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7577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EBACC6-CCC4-602F-34F2-8F4AC90A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Сборка программы.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7C9416-C242-9135-CB05-8851F4901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145" y="2230470"/>
            <a:ext cx="6257710" cy="175622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15C6C8-A165-017B-870A-A7722FDFEF2C}"/>
              </a:ext>
            </a:extLst>
          </p:cNvPr>
          <p:cNvSpPr txBox="1"/>
          <p:nvPr/>
        </p:nvSpPr>
        <p:spPr>
          <a:xfrm>
            <a:off x="326003" y="1610346"/>
            <a:ext cx="10643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/>
              <a:t>Пусть имеется </a:t>
            </a:r>
            <a:r>
              <a:rPr lang="ru-RU" sz="2800" i="1" u="sng"/>
              <a:t>исходный код </a:t>
            </a:r>
            <a:r>
              <a:rPr lang="ru-RU" sz="2800"/>
              <a:t>некоторой программы </a:t>
            </a:r>
            <a:r>
              <a:rPr lang="en-US" sz="2800"/>
              <a:t>hello_world.cpp</a:t>
            </a:r>
            <a:endParaRPr lang="ru-RU" sz="2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0D5585-B82D-6B43-87FD-E6E47DDA9070}"/>
              </a:ext>
            </a:extLst>
          </p:cNvPr>
          <p:cNvSpPr txBox="1"/>
          <p:nvPr/>
        </p:nvSpPr>
        <p:spPr>
          <a:xfrm>
            <a:off x="326003" y="4117331"/>
            <a:ext cx="11259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800" dirty="0"/>
              <a:t>Рассмотрим схему обработки информации для </a:t>
            </a:r>
            <a:r>
              <a:rPr lang="ru-RU" sz="2800" i="1" u="sng" dirty="0"/>
              <a:t>компилируемых</a:t>
            </a:r>
            <a:r>
              <a:rPr lang="ru-RU" sz="2800" dirty="0"/>
              <a:t> языков.</a:t>
            </a:r>
          </a:p>
        </p:txBody>
      </p:sp>
    </p:spTree>
    <p:extLst>
      <p:ext uri="{BB962C8B-B14F-4D97-AF65-F5344CB8AC3E}">
        <p14:creationId xmlns:p14="http://schemas.microsoft.com/office/powerpoint/2010/main" val="525768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EABB2-3EC1-C7F6-8D4C-18DA49A3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AA6DC-EB37-0496-D1BA-7F3C3578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Сборка программы.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BA0A41-908F-D986-3AB5-1FBED49DD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3262"/>
            <a:ext cx="7048500" cy="429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F3420C-5785-B60B-ADC0-C01EC4698285}"/>
              </a:ext>
            </a:extLst>
          </p:cNvPr>
          <p:cNvSpPr txBox="1"/>
          <p:nvPr/>
        </p:nvSpPr>
        <p:spPr>
          <a:xfrm>
            <a:off x="7951304" y="1564420"/>
            <a:ext cx="397865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800"/>
              <a:t>Общая схема обработки данных.</a:t>
            </a:r>
          </a:p>
          <a:p>
            <a:pPr algn="l"/>
            <a:r>
              <a:rPr lang="ru-RU" sz="2800"/>
              <a:t> </a:t>
            </a:r>
          </a:p>
          <a:p>
            <a:pPr algn="l"/>
            <a:r>
              <a:rPr lang="ru-RU" sz="2800"/>
              <a:t>Заголовочные </a:t>
            </a:r>
            <a:r>
              <a:rPr lang="ru-RU" sz="2800" i="1" u="sng"/>
              <a:t>файлы предпроцессора</a:t>
            </a:r>
            <a:r>
              <a:rPr lang="ru-RU" sz="2800"/>
              <a:t> (</a:t>
            </a:r>
            <a:r>
              <a:rPr lang="en-US" sz="2800"/>
              <a:t>#include</a:t>
            </a:r>
            <a:r>
              <a:rPr lang="ru-RU" sz="2800"/>
              <a:t>)</a:t>
            </a:r>
            <a:r>
              <a:rPr lang="en-US" sz="2800"/>
              <a:t> </a:t>
            </a:r>
            <a:r>
              <a:rPr lang="ru-RU" sz="2800"/>
              <a:t>загружаются на этапе компиляции.</a:t>
            </a:r>
          </a:p>
        </p:txBody>
      </p:sp>
    </p:spTree>
    <p:extLst>
      <p:ext uri="{BB962C8B-B14F-4D97-AF65-F5344CB8AC3E}">
        <p14:creationId xmlns:p14="http://schemas.microsoft.com/office/powerpoint/2010/main" val="342982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B1C04-5BF8-788B-7374-F88A1405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4C082-140E-CD50-1703-35F611E06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Проблемы стандартной сборки.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1789D-2472-F136-D5D5-605B3D83FE79}"/>
              </a:ext>
            </a:extLst>
          </p:cNvPr>
          <p:cNvSpPr txBox="1"/>
          <p:nvPr/>
        </p:nvSpPr>
        <p:spPr>
          <a:xfrm>
            <a:off x="202793" y="2050196"/>
            <a:ext cx="1155469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800" dirty="0"/>
              <a:t>	При работе с большим количеством как внешних</a:t>
            </a:r>
            <a:r>
              <a:rPr lang="en-US" sz="2800" dirty="0"/>
              <a:t>, </a:t>
            </a:r>
            <a:r>
              <a:rPr lang="ru-RU" sz="2800" dirty="0"/>
              <a:t>так и внутренних </a:t>
            </a:r>
            <a:r>
              <a:rPr lang="ru-RU" sz="2800" i="1" u="sng" dirty="0"/>
              <a:t>библиотек</a:t>
            </a:r>
            <a:r>
              <a:rPr lang="ru-RU" sz="2800" dirty="0"/>
              <a:t> проблематично создать один </a:t>
            </a:r>
            <a:r>
              <a:rPr lang="ru-RU" sz="2800" i="1" u="sng" dirty="0"/>
              <a:t>исполняемый файл</a:t>
            </a:r>
            <a:r>
              <a:rPr lang="ru-RU" sz="2800" dirty="0"/>
              <a:t> (.</a:t>
            </a:r>
            <a:r>
              <a:rPr lang="en-US" sz="2800" dirty="0"/>
              <a:t>exe </a:t>
            </a:r>
            <a:r>
              <a:rPr lang="ru-RU" sz="2800" dirty="0"/>
              <a:t>в </a:t>
            </a:r>
            <a:r>
              <a:rPr lang="en-US" sz="2800" dirty="0"/>
              <a:t>windows</a:t>
            </a:r>
            <a:r>
              <a:rPr lang="ru-RU" sz="2800" dirty="0"/>
              <a:t>)</a:t>
            </a:r>
            <a:r>
              <a:rPr lang="en-US" sz="2800" dirty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/>
              <a:t>Затрата времени на установку связи между компонентами.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/>
              <a:t>Проблема со включением компонентов.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/>
              <a:t>Для разных систем иерархия вызовов будет различной – ничего не будет работать </a:t>
            </a:r>
            <a:r>
              <a:rPr lang="en-US" sz="2800" dirty="0"/>
              <a:t>:(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4638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F020D-E27F-41F4-B257-8E34E91D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12C24-AE85-53AA-A93B-3851D122A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Проблемы стандартной сборки.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ABEBA0-6634-A897-8855-E61114E1BC39}"/>
              </a:ext>
            </a:extLst>
          </p:cNvPr>
          <p:cNvSpPr txBox="1"/>
          <p:nvPr/>
        </p:nvSpPr>
        <p:spPr>
          <a:xfrm>
            <a:off x="-1" y="2474893"/>
            <a:ext cx="124286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i="1" dirty="0">
                <a:solidFill>
                  <a:srgbClr val="FF0000"/>
                </a:solidFill>
              </a:rPr>
              <a:t>Для больших проектов выгодней использовать сторонние сборщики</a:t>
            </a:r>
            <a:r>
              <a:rPr lang="en-US" sz="3000" i="1" dirty="0">
                <a:solidFill>
                  <a:srgbClr val="FF0000"/>
                </a:solidFill>
              </a:rPr>
              <a:t>.</a:t>
            </a:r>
            <a:endParaRPr lang="ru-RU" sz="3000" i="1" dirty="0">
              <a:solidFill>
                <a:srgbClr val="FF0000"/>
              </a:solidFill>
            </a:endParaRPr>
          </a:p>
          <a:p>
            <a:pPr algn="ctr"/>
            <a:r>
              <a:rPr lang="ru-RU" sz="3000" i="1" dirty="0">
                <a:solidFill>
                  <a:srgbClr val="FF0000"/>
                </a:solidFill>
              </a:rPr>
              <a:t>Например, </a:t>
            </a:r>
            <a:r>
              <a:rPr lang="en-US" sz="3000" i="1" dirty="0">
                <a:solidFill>
                  <a:srgbClr val="FF0000"/>
                </a:solidFill>
              </a:rPr>
              <a:t>CMake</a:t>
            </a:r>
            <a:r>
              <a:rPr lang="ru-RU" sz="3000" i="1" dirty="0">
                <a:solidFill>
                  <a:srgbClr val="FF0000"/>
                </a:solidFill>
              </a:rPr>
              <a:t>!!!</a:t>
            </a:r>
          </a:p>
          <a:p>
            <a:pPr algn="ctr"/>
            <a:r>
              <a:rPr lang="ru-RU" sz="3000" dirty="0"/>
              <a:t>К основным задачам </a:t>
            </a:r>
            <a:r>
              <a:rPr lang="en-US" sz="3000" dirty="0"/>
              <a:t>CMake </a:t>
            </a:r>
            <a:r>
              <a:rPr lang="ru-RU" sz="3000" dirty="0"/>
              <a:t>относятся</a:t>
            </a:r>
            <a:r>
              <a:rPr lang="en-US" sz="3000" dirty="0"/>
              <a:t>: </a:t>
            </a:r>
            <a:r>
              <a:rPr lang="ru-RU" sz="3000" i="1" u="sng" dirty="0"/>
              <a:t>конфигурация</a:t>
            </a:r>
            <a:r>
              <a:rPr lang="en-US" sz="3000" dirty="0"/>
              <a:t>,</a:t>
            </a:r>
            <a:r>
              <a:rPr lang="ru-RU" sz="3000" dirty="0"/>
              <a:t> </a:t>
            </a:r>
            <a:r>
              <a:rPr lang="ru-RU" sz="3000" i="1" u="sng" dirty="0"/>
              <a:t>генерация</a:t>
            </a:r>
            <a:r>
              <a:rPr lang="en-US" sz="3000" dirty="0"/>
              <a:t>, </a:t>
            </a:r>
            <a:r>
              <a:rPr lang="ru-RU" sz="3000" i="1" u="sng" dirty="0"/>
              <a:t>сборка</a:t>
            </a:r>
            <a:r>
              <a:rPr lang="en-US" sz="3000" dirty="0"/>
              <a:t> </a:t>
            </a: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2457103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5B15-EA8B-E262-20E4-29C3CFE8E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D216F-86A4-2ECF-535F-978FFB1B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Этапы сборки.</a:t>
            </a:r>
            <a:r>
              <a:rPr lang="en-US"/>
              <a:t> </a:t>
            </a:r>
            <a:r>
              <a:rPr lang="ru-RU"/>
              <a:t>Конфигурация.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2DBD2-5F1F-1BE6-83E9-C74D09BEDCAC}"/>
              </a:ext>
            </a:extLst>
          </p:cNvPr>
          <p:cNvSpPr txBox="1"/>
          <p:nvPr/>
        </p:nvSpPr>
        <p:spPr>
          <a:xfrm>
            <a:off x="316573" y="2143980"/>
            <a:ext cx="11400312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spcAft>
                <a:spcPts val="600"/>
              </a:spcAft>
              <a:buFont typeface="+mj-lt"/>
              <a:buAutoNum type="arabicPeriod"/>
            </a:pPr>
            <a:r>
              <a:rPr lang="ru-RU" sz="2800" dirty="0"/>
              <a:t>Сбор общей информации о системе, компиляторах и пр.</a:t>
            </a:r>
          </a:p>
          <a:p>
            <a:pPr marL="514350" indent="-514350" algn="l">
              <a:spcAft>
                <a:spcPts val="600"/>
              </a:spcAft>
              <a:buFont typeface="+mj-lt"/>
              <a:buAutoNum type="arabicPeriod"/>
            </a:pPr>
            <a:r>
              <a:rPr lang="ru-RU" sz="2800" dirty="0"/>
              <a:t>Определение расположения исходных файлов и места, куда эти исходники будут собраны.</a:t>
            </a:r>
          </a:p>
          <a:p>
            <a:pPr marL="514350" indent="-514350" algn="l">
              <a:spcAft>
                <a:spcPts val="600"/>
              </a:spcAft>
              <a:buFont typeface="+mj-lt"/>
              <a:buAutoNum type="arabicPeriod"/>
            </a:pPr>
            <a:r>
              <a:rPr lang="en-US" sz="2800" dirty="0"/>
              <a:t>CMake </a:t>
            </a:r>
            <a:r>
              <a:rPr lang="ru-RU" sz="2800" dirty="0"/>
              <a:t>имеет свой </a:t>
            </a:r>
            <a:r>
              <a:rPr lang="en-US" sz="2800" dirty="0"/>
              <a:t>“</a:t>
            </a:r>
            <a:r>
              <a:rPr lang="ru-RU" sz="2800" dirty="0"/>
              <a:t>язык</a:t>
            </a:r>
            <a:r>
              <a:rPr lang="en-US" sz="2800" dirty="0"/>
              <a:t>”</a:t>
            </a:r>
            <a:r>
              <a:rPr lang="ru-RU" sz="2800" dirty="0"/>
              <a:t>. Главной инструкцией для него является </a:t>
            </a:r>
            <a:r>
              <a:rPr lang="en-US" sz="2800" b="1" dirty="0"/>
              <a:t>CmakeLists.txt</a:t>
            </a:r>
            <a:r>
              <a:rPr lang="en-US" sz="2800" dirty="0"/>
              <a:t>, </a:t>
            </a:r>
            <a:r>
              <a:rPr lang="ru-RU" sz="2800" dirty="0"/>
              <a:t>определённый пользователем. Именно тут указано, как должен собираться наш проект (зависимости, ссылки), а также требования для оптимальной работы </a:t>
            </a:r>
            <a:r>
              <a:rPr lang="ru-RU" sz="2800" dirty="0" err="1"/>
              <a:t>бинарника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0299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0F56E-9BE7-6F22-F6E6-54CF48E06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12D67-66F1-D43F-0C93-DA372770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Этапы сборки.</a:t>
            </a:r>
            <a:r>
              <a:rPr lang="en-US"/>
              <a:t> </a:t>
            </a:r>
            <a:r>
              <a:rPr lang="ru-RU"/>
              <a:t>Генерация.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F8EC3-49C6-AFE9-3318-651C1D715A27}"/>
              </a:ext>
            </a:extLst>
          </p:cNvPr>
          <p:cNvSpPr txBox="1"/>
          <p:nvPr/>
        </p:nvSpPr>
        <p:spPr>
          <a:xfrm>
            <a:off x="308758" y="1690688"/>
            <a:ext cx="114003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800"/>
              <a:t>Создание </a:t>
            </a:r>
            <a:r>
              <a:rPr lang="en-US" sz="2800"/>
              <a:t>Make-</a:t>
            </a:r>
            <a:r>
              <a:rPr lang="ru-RU" sz="2800"/>
              <a:t>файла для конкретной системы (также, например для </a:t>
            </a:r>
            <a:r>
              <a:rPr lang="en-US" sz="2800"/>
              <a:t>Visual Studio, </a:t>
            </a:r>
            <a:r>
              <a:rPr lang="ru-RU" sz="2800"/>
              <a:t>делаются специфические файлы конкретно этой </a:t>
            </a:r>
            <a:r>
              <a:rPr lang="en-US" sz="2800"/>
              <a:t>IDE</a:t>
            </a:r>
            <a:r>
              <a:rPr lang="ru-RU" sz="2800"/>
              <a:t>)</a:t>
            </a:r>
            <a:r>
              <a:rPr lang="en-US" sz="2800"/>
              <a:t>.</a:t>
            </a:r>
            <a:endParaRPr lang="ru-RU" sz="280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8FDC07E-A5CE-AC49-E411-4CB1B038FC74}"/>
              </a:ext>
            </a:extLst>
          </p:cNvPr>
          <p:cNvSpPr txBox="1">
            <a:spLocks/>
          </p:cNvSpPr>
          <p:nvPr/>
        </p:nvSpPr>
        <p:spPr>
          <a:xfrm>
            <a:off x="838200" y="26447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Этапы сборки.</a:t>
            </a:r>
            <a:r>
              <a:rPr lang="en-US"/>
              <a:t> </a:t>
            </a:r>
            <a:r>
              <a:rPr lang="ru-RU"/>
              <a:t>Построение.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7B2C1-FD60-C107-BBA5-9413EF3266CA}"/>
              </a:ext>
            </a:extLst>
          </p:cNvPr>
          <p:cNvSpPr txBox="1"/>
          <p:nvPr/>
        </p:nvSpPr>
        <p:spPr>
          <a:xfrm>
            <a:off x="308758" y="3970358"/>
            <a:ext cx="114003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800"/>
              <a:t>При помощи подходящей программы производится итоговый пакет сборки</a:t>
            </a:r>
            <a:r>
              <a:rPr lang="en-US" sz="2800"/>
              <a:t>.</a:t>
            </a:r>
            <a:r>
              <a:rPr lang="ru-RU" sz="2800"/>
              <a:t> Конечный файл содержит в себе всю иерархию вызовов и ссылок.</a:t>
            </a:r>
          </a:p>
        </p:txBody>
      </p:sp>
    </p:spTree>
    <p:extLst>
      <p:ext uri="{BB962C8B-B14F-4D97-AF65-F5344CB8AC3E}">
        <p14:creationId xmlns:p14="http://schemas.microsoft.com/office/powerpoint/2010/main" val="2723567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4CDA7-7489-BC87-927B-9E657DFE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FD46C-DC1B-9748-BB89-63DFED58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сборки.</a:t>
            </a:r>
            <a:r>
              <a:rPr lang="en-US" dirty="0"/>
              <a:t> </a:t>
            </a:r>
            <a:r>
              <a:rPr lang="ru-RU" dirty="0"/>
              <a:t>Общая схема.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184FD6-0D76-EFA0-7F06-B29E6638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229" y="1690688"/>
            <a:ext cx="5496752" cy="378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3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072E3-C5F3-0D83-0CAE-8EA3FECF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5B132-82E8-0359-EE20-64EC0593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==Термины==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2D1CFA-61B0-D9DE-BA69-550817868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67" y="1603170"/>
            <a:ext cx="10680865" cy="4738254"/>
          </a:xfrm>
        </p:spPr>
        <p:txBody>
          <a:bodyPr>
            <a:normAutofit lnSpcReduction="10000"/>
          </a:bodyPr>
          <a:lstStyle/>
          <a:p>
            <a:r>
              <a:rPr lang="ru-RU" i="1" dirty="0"/>
              <a:t>Исходный код</a:t>
            </a:r>
            <a:r>
              <a:rPr lang="ru-RU" dirty="0"/>
              <a:t> – код, написанный вами с учетом правил языка (Используем </a:t>
            </a:r>
            <a:r>
              <a:rPr lang="en-US" dirty="0"/>
              <a:t>IDE</a:t>
            </a:r>
            <a:r>
              <a:rPr lang="ru-RU" dirty="0"/>
              <a:t> (</a:t>
            </a:r>
            <a:r>
              <a:rPr lang="en-US" dirty="0"/>
              <a:t>Visual Studio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или просто блокнот).</a:t>
            </a:r>
          </a:p>
          <a:p>
            <a:r>
              <a:rPr lang="ru-RU" i="1" dirty="0"/>
              <a:t>Исполняемый (</a:t>
            </a:r>
            <a:r>
              <a:rPr lang="en-US" i="1" dirty="0"/>
              <a:t>executable</a:t>
            </a:r>
            <a:r>
              <a:rPr lang="ru-RU" i="1" dirty="0"/>
              <a:t>) файл</a:t>
            </a:r>
            <a:r>
              <a:rPr lang="ru-RU" dirty="0"/>
              <a:t> – скомпилированный код, при запуске которого происходит запуск всего проекта.</a:t>
            </a:r>
          </a:p>
          <a:p>
            <a:r>
              <a:rPr lang="ru-RU" i="1" dirty="0"/>
              <a:t>Директивы препроцессора </a:t>
            </a:r>
            <a:r>
              <a:rPr lang="ru-RU" dirty="0"/>
              <a:t>– этап, который происходит перед компиляцией основной части кода (здесь мы подключаем файлы других библиотек).</a:t>
            </a:r>
          </a:p>
          <a:p>
            <a:r>
              <a:rPr lang="ru-RU" i="1" dirty="0"/>
              <a:t>Библиотеки</a:t>
            </a:r>
            <a:r>
              <a:rPr lang="ru-RU" dirty="0"/>
              <a:t> – блоки кода (целые файлы)</a:t>
            </a:r>
            <a:r>
              <a:rPr lang="en-US" dirty="0"/>
              <a:t>, </a:t>
            </a:r>
            <a:r>
              <a:rPr lang="ru-RU" dirty="0"/>
              <a:t>которые по сути являются инструментом или описанием физики.</a:t>
            </a:r>
          </a:p>
          <a:p>
            <a:r>
              <a:rPr lang="ru-RU" i="1" dirty="0" err="1"/>
              <a:t>Линковищик</a:t>
            </a:r>
            <a:r>
              <a:rPr lang="ru-RU" dirty="0"/>
              <a:t> – редактор связей, объединяет код в </a:t>
            </a:r>
            <a:r>
              <a:rPr lang="en-US" dirty="0"/>
              <a:t>.exe </a:t>
            </a:r>
            <a:r>
              <a:rPr lang="ru-RU" dirty="0"/>
              <a:t>со всеми библиотеками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556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FA558-FA4B-5602-7EDE-D0C40E3C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CEAA1-221C-582B-83E2-D44A21116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 </a:t>
            </a:r>
            <a:r>
              <a:rPr lang="en-US" dirty="0"/>
              <a:t>Geant4</a:t>
            </a:r>
            <a:r>
              <a:rPr lang="ru-RU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7F069-164B-0528-6D04-CFCA6AC40300}"/>
              </a:ext>
            </a:extLst>
          </p:cNvPr>
          <p:cNvSpPr txBox="1"/>
          <p:nvPr/>
        </p:nvSpPr>
        <p:spPr>
          <a:xfrm>
            <a:off x="58616" y="1391138"/>
            <a:ext cx="1193018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50" dirty="0"/>
              <a:t>В папке проекта на </a:t>
            </a:r>
            <a:r>
              <a:rPr lang="en-US" sz="2250" dirty="0"/>
              <a:t>Geant4 </a:t>
            </a:r>
            <a:r>
              <a:rPr lang="ru-RU" sz="2250" dirty="0"/>
              <a:t>располагаются все необходимые компоненты для запуска на любом устройстве. Основные компоненты</a:t>
            </a:r>
            <a:r>
              <a:rPr lang="en-US" sz="2250" dirty="0"/>
              <a:t>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250" dirty="0"/>
              <a:t>Папка </a:t>
            </a:r>
            <a:r>
              <a:rPr lang="en-US" sz="2250" dirty="0">
                <a:solidFill>
                  <a:srgbClr val="00B0F0"/>
                </a:solidFill>
              </a:rPr>
              <a:t>include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ru-RU" sz="2250" dirty="0"/>
              <a:t>В данной папке создаются все</a:t>
            </a:r>
            <a:r>
              <a:rPr lang="en-US" sz="2250" dirty="0"/>
              <a:t> .</a:t>
            </a:r>
            <a:r>
              <a:rPr lang="en-US" sz="2250" dirty="0" err="1"/>
              <a:t>hh</a:t>
            </a:r>
            <a:r>
              <a:rPr lang="en-US" sz="2250" dirty="0"/>
              <a:t> </a:t>
            </a:r>
            <a:r>
              <a:rPr lang="ru-RU" sz="2250" dirty="0"/>
              <a:t>файлы, которые содержат интерфейс основных инструментов.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250" dirty="0"/>
              <a:t>Папка </a:t>
            </a:r>
            <a:r>
              <a:rPr lang="en-US" sz="2250" dirty="0">
                <a:solidFill>
                  <a:srgbClr val="00B0F0"/>
                </a:solidFill>
              </a:rPr>
              <a:t>source</a:t>
            </a:r>
            <a:endParaRPr lang="ru-RU" sz="2250" dirty="0">
              <a:solidFill>
                <a:srgbClr val="00B0F0"/>
              </a:solidFill>
            </a:endParaRPr>
          </a:p>
          <a:p>
            <a:pPr marL="804863" lvl="1" indent="-347663" algn="just">
              <a:buFont typeface="Courier New" panose="02070309020205020404" pitchFamily="49" charset="0"/>
              <a:buChar char="o"/>
            </a:pPr>
            <a:r>
              <a:rPr lang="ru-RU" sz="2250" dirty="0"/>
              <a:t>В отличии от </a:t>
            </a:r>
            <a:r>
              <a:rPr lang="en-US" sz="2250" dirty="0">
                <a:solidFill>
                  <a:srgbClr val="00B0F0"/>
                </a:solidFill>
              </a:rPr>
              <a:t>include</a:t>
            </a:r>
            <a:r>
              <a:rPr lang="en-US" sz="2250" dirty="0"/>
              <a:t>, </a:t>
            </a:r>
            <a:r>
              <a:rPr lang="ru-RU" sz="2250" dirty="0"/>
              <a:t>здесь мы описываем интерфейс (определяем методы)</a:t>
            </a:r>
            <a:endParaRPr lang="en-US" sz="2250" dirty="0"/>
          </a:p>
          <a:p>
            <a:pPr marL="514350" indent="-514350" algn="just">
              <a:buFont typeface="+mj-lt"/>
              <a:buAutoNum type="arabicPeriod"/>
            </a:pPr>
            <a:r>
              <a:rPr lang="ru-RU" sz="2250" dirty="0"/>
              <a:t>Папка </a:t>
            </a:r>
            <a:r>
              <a:rPr lang="en-US" sz="2250" dirty="0">
                <a:solidFill>
                  <a:srgbClr val="00B0F0"/>
                </a:solidFill>
              </a:rPr>
              <a:t>macros</a:t>
            </a:r>
            <a:endParaRPr lang="ru-RU" sz="2250" dirty="0">
              <a:solidFill>
                <a:srgbClr val="00B0F0"/>
              </a:solidFill>
            </a:endParaRPr>
          </a:p>
          <a:p>
            <a:pPr marL="804863" lvl="1" indent="-347663" algn="just">
              <a:buFont typeface="Courier New" panose="02070309020205020404" pitchFamily="49" charset="0"/>
              <a:buChar char="o"/>
            </a:pPr>
            <a:r>
              <a:rPr lang="ru-RU" sz="2250" dirty="0"/>
              <a:t>Содержит файлы, которые определят запуск симуляции с заданными параметрами (пр. файл визуализации, в котором выбирается графическое ядро, разрешение экрана и </a:t>
            </a:r>
            <a:r>
              <a:rPr lang="ru-RU" sz="2250" dirty="0" err="1"/>
              <a:t>тд</a:t>
            </a:r>
            <a:r>
              <a:rPr lang="ru-RU" sz="2250" dirty="0"/>
              <a:t>.)</a:t>
            </a:r>
            <a:endParaRPr lang="en-US" sz="2250" dirty="0"/>
          </a:p>
          <a:p>
            <a:pPr marL="514350" indent="-514350" algn="just">
              <a:buFont typeface="+mj-lt"/>
              <a:buAutoNum type="arabicPeriod"/>
            </a:pPr>
            <a:r>
              <a:rPr lang="ru-RU" sz="2250" dirty="0"/>
              <a:t>Точка входа в программу </a:t>
            </a:r>
            <a:r>
              <a:rPr lang="en-US" sz="2250" dirty="0"/>
              <a:t>(.cc </a:t>
            </a:r>
            <a:r>
              <a:rPr lang="ru-RU" sz="2250" dirty="0"/>
              <a:t>файл</a:t>
            </a:r>
            <a:r>
              <a:rPr lang="en-US" sz="2250" dirty="0"/>
              <a:t>)</a:t>
            </a:r>
            <a:endParaRPr lang="ru-RU" sz="2250" dirty="0"/>
          </a:p>
          <a:p>
            <a:pPr marL="804863" lvl="1" indent="-358775" algn="just">
              <a:buFont typeface="Courier New" panose="02070309020205020404" pitchFamily="49" charset="0"/>
              <a:buChar char="o"/>
            </a:pPr>
            <a:r>
              <a:rPr lang="ru-RU" sz="2250" dirty="0"/>
              <a:t>Здесь указана </a:t>
            </a:r>
            <a:r>
              <a:rPr lang="en-US" sz="2250" dirty="0">
                <a:solidFill>
                  <a:srgbClr val="00B0F0"/>
                </a:solidFill>
              </a:rPr>
              <a:t>main</a:t>
            </a:r>
            <a:r>
              <a:rPr lang="en-US" sz="2250" dirty="0"/>
              <a:t>-</a:t>
            </a:r>
            <a:r>
              <a:rPr lang="ru-RU" sz="2250" dirty="0"/>
              <a:t>функция. Определён режим однопоточной или многопоточной работы, а также происходит включение абсолютно всех компонентов.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250" dirty="0"/>
              <a:t>Сторонние скрипты, папки с результатами расчётов и </a:t>
            </a:r>
            <a:r>
              <a:rPr lang="ru-RU" sz="2250" dirty="0" err="1"/>
              <a:t>тд</a:t>
            </a:r>
            <a:r>
              <a:rPr lang="ru-RU" sz="2250" dirty="0"/>
              <a:t>.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2948304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BFF99-3973-E56F-6E6A-6204F0C6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95AF4-A311-2089-DCDC-D87A51E0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G4RunManager (Single mode)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9E8A0-6370-548A-84FB-A1070C76EBE6}"/>
              </a:ext>
            </a:extLst>
          </p:cNvPr>
          <p:cNvSpPr txBox="1"/>
          <p:nvPr/>
        </p:nvSpPr>
        <p:spPr>
          <a:xfrm>
            <a:off x="242276" y="1391137"/>
            <a:ext cx="1170744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dirty="0"/>
              <a:t>	</a:t>
            </a:r>
            <a:r>
              <a:rPr lang="ru-RU" sz="2600" dirty="0"/>
              <a:t>Основной класс для запуска всей симуляции в </a:t>
            </a:r>
            <a:r>
              <a:rPr lang="en-US" sz="2600" dirty="0"/>
              <a:t>Geant4. </a:t>
            </a:r>
            <a:r>
              <a:rPr lang="ru-RU" sz="2600" dirty="0"/>
              <a:t>Для использования создаётся указатель класса, который руководит всеми процессами запуска</a:t>
            </a:r>
            <a:r>
              <a:rPr lang="en-US" sz="2600" dirty="0"/>
              <a:t>:</a:t>
            </a:r>
            <a:endParaRPr lang="ru-RU" sz="2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44211D-E0FA-9A97-8602-A8541D042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501" y="2845525"/>
            <a:ext cx="3651350" cy="138499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1D225B-D706-D988-1EDD-C856734AF3C3}"/>
              </a:ext>
            </a:extLst>
          </p:cNvPr>
          <p:cNvSpPr txBox="1"/>
          <p:nvPr/>
        </p:nvSpPr>
        <p:spPr>
          <a:xfrm>
            <a:off x="160214" y="4509476"/>
            <a:ext cx="1187157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dirty="0"/>
              <a:t>Основные методы</a:t>
            </a:r>
            <a:r>
              <a:rPr lang="en-US" sz="2600" dirty="0"/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B0F0"/>
                </a:solidFill>
              </a:rPr>
              <a:t>SetUserInitialization() </a:t>
            </a:r>
            <a:r>
              <a:rPr lang="en-US" sz="2600" dirty="0"/>
              <a:t>– </a:t>
            </a:r>
            <a:r>
              <a:rPr lang="ru-RU" sz="2600" dirty="0"/>
              <a:t>добавляет в систему компонент моделирования (физику, геометрию и </a:t>
            </a:r>
            <a:r>
              <a:rPr lang="ru-RU" sz="2600" dirty="0" err="1"/>
              <a:t>тд</a:t>
            </a:r>
            <a:r>
              <a:rPr lang="ru-RU" sz="2600" dirty="0"/>
              <a:t>.)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B0F0"/>
                </a:solidFill>
              </a:rPr>
              <a:t>Initialize() </a:t>
            </a:r>
            <a:r>
              <a:rPr lang="en-US" sz="2600" dirty="0"/>
              <a:t>– </a:t>
            </a:r>
            <a:r>
              <a:rPr lang="ru-RU" sz="2600" dirty="0"/>
              <a:t>после указания всех компонентов запускает ядро.</a:t>
            </a:r>
          </a:p>
        </p:txBody>
      </p:sp>
    </p:spTree>
    <p:extLst>
      <p:ext uri="{BB962C8B-B14F-4D97-AF65-F5344CB8AC3E}">
        <p14:creationId xmlns:p14="http://schemas.microsoft.com/office/powerpoint/2010/main" val="6728118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524</Words>
  <Application>Microsoft Office PowerPoint</Application>
  <PresentationFormat>Широкоэкранный</PresentationFormat>
  <Paragraphs>48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Franklin Gothic Book</vt:lpstr>
      <vt:lpstr>Franklin Gothic Medium</vt:lpstr>
      <vt:lpstr>Тема Office</vt:lpstr>
      <vt:lpstr> Про cmake.</vt:lpstr>
      <vt:lpstr>Сборка программы.</vt:lpstr>
      <vt:lpstr>Сборка программы.</vt:lpstr>
      <vt:lpstr>Проблемы стандартной сборки.</vt:lpstr>
      <vt:lpstr>Проблемы стандартной сборки.</vt:lpstr>
      <vt:lpstr>Этапы сборки. Конфигурация.</vt:lpstr>
      <vt:lpstr>Этапы сборки. Генерация.</vt:lpstr>
      <vt:lpstr>Этапы сборки. Общая схема.</vt:lpstr>
      <vt:lpstr>==Термины==</vt:lpstr>
      <vt:lpstr>Структура проекта Geant4.</vt:lpstr>
      <vt:lpstr>G4RunManager (Single mode)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s4h0</dc:creator>
  <cp:lastModifiedBy>s4h0</cp:lastModifiedBy>
  <cp:revision>25</cp:revision>
  <dcterms:created xsi:type="dcterms:W3CDTF">2026-06-26T18:12:48Z</dcterms:created>
  <dcterms:modified xsi:type="dcterms:W3CDTF">2026-10-05T14:55:31Z</dcterms:modified>
</cp:coreProperties>
</file>